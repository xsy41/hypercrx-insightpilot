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34"/>
  </p:handoutMasterIdLst>
  <p:sldIdLst>
    <p:sldId id="257" r:id="rId4"/>
    <p:sldId id="399" r:id="rId6"/>
    <p:sldId id="258" r:id="rId7"/>
    <p:sldId id="259" r:id="rId8"/>
    <p:sldId id="366" r:id="rId9"/>
    <p:sldId id="367" r:id="rId10"/>
    <p:sldId id="263" r:id="rId11"/>
    <p:sldId id="376" r:id="rId12"/>
    <p:sldId id="377" r:id="rId13"/>
    <p:sldId id="378" r:id="rId14"/>
    <p:sldId id="379" r:id="rId15"/>
    <p:sldId id="267" r:id="rId16"/>
    <p:sldId id="368" r:id="rId17"/>
    <p:sldId id="369" r:id="rId18"/>
    <p:sldId id="375" r:id="rId19"/>
    <p:sldId id="370" r:id="rId20"/>
    <p:sldId id="371" r:id="rId21"/>
    <p:sldId id="372" r:id="rId22"/>
    <p:sldId id="373" r:id="rId23"/>
    <p:sldId id="374" r:id="rId24"/>
    <p:sldId id="380" r:id="rId25"/>
    <p:sldId id="271" r:id="rId26"/>
    <p:sldId id="347" r:id="rId27"/>
    <p:sldId id="350" r:id="rId28"/>
    <p:sldId id="351" r:id="rId29"/>
    <p:sldId id="352" r:id="rId30"/>
    <p:sldId id="396" r:id="rId31"/>
    <p:sldId id="397" r:id="rId32"/>
    <p:sldId id="284" r:id="rId33"/>
  </p:sldIdLst>
  <p:sldSz cx="12192000" cy="6858000"/>
  <p:notesSz cx="7103745" cy="10234295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49"/>
        <p:guide pos="38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gs" Target="tags/tag212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>
            <p:custDataLst>
              <p:tags r:id="rId2"/>
            </p:custDataLst>
          </p:nvPr>
        </p:nvSpPr>
        <p:spPr>
          <a:xfrm>
            <a:off x="1" y="787400"/>
            <a:ext cx="11095355" cy="3505200"/>
          </a:xfrm>
          <a:custGeom>
            <a:avLst/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3"/>
            </p:custDataLst>
          </p:nvPr>
        </p:nvSpPr>
        <p:spPr>
          <a:xfrm flipH="1" flipV="1">
            <a:off x="1096646" y="2565400"/>
            <a:ext cx="11095355" cy="3505200"/>
          </a:xfrm>
          <a:custGeom>
            <a:avLst/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10725150" y="487172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11178540" y="487172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5" name="文本框 14"/>
          <p:cNvSpPr txBox="1"/>
          <p:nvPr userDrawn="1">
            <p:custDataLst>
              <p:tags r:id="rId6"/>
            </p:custDataLst>
          </p:nvPr>
        </p:nvSpPr>
        <p:spPr>
          <a:xfrm flipV="1">
            <a:off x="1170305" y="139954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6" name="文本框 15"/>
          <p:cNvSpPr txBox="1"/>
          <p:nvPr userDrawn="1">
            <p:custDataLst>
              <p:tags r:id="rId7"/>
            </p:custDataLst>
          </p:nvPr>
        </p:nvSpPr>
        <p:spPr>
          <a:xfrm flipV="1">
            <a:off x="726440" y="139954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1506000" y="2664000"/>
            <a:ext cx="9180000" cy="1015200"/>
          </a:xfr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2470800" y="1926000"/>
            <a:ext cx="7250400" cy="4608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3936000" y="4680000"/>
            <a:ext cx="432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任意多边形 55"/>
          <p:cNvSpPr/>
          <p:nvPr userDrawn="1">
            <p:custDataLst>
              <p:tags r:id="rId5"/>
            </p:custDataLst>
          </p:nvPr>
        </p:nvSpPr>
        <p:spPr>
          <a:xfrm>
            <a:off x="808355" y="2261235"/>
            <a:ext cx="923290" cy="1787525"/>
          </a:xfrm>
          <a:custGeom>
            <a:avLst/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 userDrawn="1">
            <p:custDataLst>
              <p:tags r:id="rId6"/>
            </p:custDataLst>
          </p:nvPr>
        </p:nvSpPr>
        <p:spPr>
          <a:xfrm flipH="1" flipV="1">
            <a:off x="3881120" y="2251710"/>
            <a:ext cx="15875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6" name="文本框 5"/>
          <p:cNvSpPr txBox="1"/>
          <p:nvPr userDrawn="1">
            <p:custDataLst>
              <p:tags r:id="rId7"/>
            </p:custDataLst>
          </p:nvPr>
        </p:nvSpPr>
        <p:spPr>
          <a:xfrm flipH="1" flipV="1">
            <a:off x="4123690" y="2251710"/>
            <a:ext cx="15367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1" name="文本框 10"/>
          <p:cNvSpPr txBox="1"/>
          <p:nvPr userDrawn="1">
            <p:custDataLst>
              <p:tags r:id="rId8"/>
            </p:custDataLst>
          </p:nvPr>
        </p:nvSpPr>
        <p:spPr>
          <a:xfrm flipV="1">
            <a:off x="878205" y="4321810"/>
            <a:ext cx="15875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9"/>
            </p:custDataLst>
          </p:nvPr>
        </p:nvSpPr>
        <p:spPr>
          <a:xfrm flipV="1">
            <a:off x="640715" y="4321810"/>
            <a:ext cx="15367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3" name="任意多边形 1"/>
          <p:cNvSpPr/>
          <p:nvPr userDrawn="1">
            <p:custDataLst>
              <p:tags r:id="rId10"/>
            </p:custDataLst>
          </p:nvPr>
        </p:nvSpPr>
        <p:spPr>
          <a:xfrm flipH="1" flipV="1">
            <a:off x="3160395" y="2931160"/>
            <a:ext cx="922655" cy="1788795"/>
          </a:xfrm>
          <a:custGeom>
            <a:avLst/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404000" y="2628000"/>
            <a:ext cx="2134800" cy="921600"/>
          </a:xfrm>
        </p:spPr>
        <p:txBody>
          <a:bodyPr wrap="square" anchor="ctr">
            <a:normAutofit/>
          </a:bodyPr>
          <a:lstStyle>
            <a:lvl1pPr algn="ctr"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4109085" y="4247515"/>
            <a:ext cx="14414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6"/>
            </p:custDataLst>
          </p:nvPr>
        </p:nvSpPr>
        <p:spPr>
          <a:xfrm flipH="1" flipV="1">
            <a:off x="4330065" y="4247515"/>
            <a:ext cx="13906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7"/>
            </p:custDataLst>
          </p:nvPr>
        </p:nvSpPr>
        <p:spPr>
          <a:xfrm flipV="1">
            <a:off x="1392555" y="2370455"/>
            <a:ext cx="14414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3" name="文本框 12"/>
          <p:cNvSpPr txBox="1"/>
          <p:nvPr userDrawn="1">
            <p:custDataLst>
              <p:tags r:id="rId8"/>
            </p:custDataLst>
          </p:nvPr>
        </p:nvSpPr>
        <p:spPr>
          <a:xfrm flipV="1">
            <a:off x="1176655" y="2370455"/>
            <a:ext cx="13906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9"/>
            </p:custDataLst>
          </p:nvPr>
        </p:nvSpPr>
        <p:spPr>
          <a:xfrm flipH="1" flipV="1">
            <a:off x="0" y="1924050"/>
            <a:ext cx="4290514" cy="1822450"/>
          </a:xfrm>
          <a:custGeom>
            <a:avLst/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/>
          <a:ln w="190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/>
          </a:p>
        </p:txBody>
      </p:sp>
      <p:sp>
        <p:nvSpPr>
          <p:cNvPr id="19" name="任意多边形: 形状 18"/>
          <p:cNvSpPr/>
          <p:nvPr userDrawn="1">
            <p:custDataLst>
              <p:tags r:id="rId10"/>
            </p:custDataLst>
          </p:nvPr>
        </p:nvSpPr>
        <p:spPr>
          <a:xfrm>
            <a:off x="1336676" y="3125470"/>
            <a:ext cx="10855325" cy="1822450"/>
          </a:xfrm>
          <a:custGeom>
            <a:avLst/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/>
          <a:ln w="190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616000" y="2412000"/>
            <a:ext cx="6004800" cy="1936800"/>
          </a:xfrm>
        </p:spPr>
        <p:txBody>
          <a:bodyPr wrap="square" anchor="ctr">
            <a:normAutofit/>
          </a:bodyPr>
          <a:lstStyle>
            <a:lvl1pPr algn="l">
              <a:defRPr sz="5400">
                <a:solidFill>
                  <a:schemeClr val="tx1">
                    <a:alpha val="8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278000" y="2340000"/>
            <a:ext cx="3060000" cy="2361600"/>
          </a:xfrm>
        </p:spPr>
        <p:txBody>
          <a:bodyPr wrap="none" bIns="252000" anchor="ctr">
            <a:normAutofit/>
          </a:bodyPr>
          <a:lstStyle>
            <a:lvl1pPr marL="0" indent="0" algn="ctr">
              <a:buNone/>
              <a:defRPr sz="10000" b="1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0553700" y="127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 userDrawn="1">
            <p:custDataLst>
              <p:tags r:id="rId2"/>
            </p:custDataLst>
          </p:nvPr>
        </p:nvSpPr>
        <p:spPr>
          <a:xfrm>
            <a:off x="1" y="787400"/>
            <a:ext cx="11095355" cy="3505200"/>
          </a:xfrm>
          <a:custGeom>
            <a:avLst/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3"/>
            </p:custDataLst>
          </p:nvPr>
        </p:nvSpPr>
        <p:spPr>
          <a:xfrm flipH="1" flipV="1">
            <a:off x="1096646" y="2565400"/>
            <a:ext cx="11095355" cy="3505200"/>
          </a:xfrm>
          <a:custGeom>
            <a:avLst/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10725150" y="487172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3" name="文本框 22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11178540" y="487172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6" name="文本框 25"/>
          <p:cNvSpPr txBox="1"/>
          <p:nvPr userDrawn="1">
            <p:custDataLst>
              <p:tags r:id="rId6"/>
            </p:custDataLst>
          </p:nvPr>
        </p:nvSpPr>
        <p:spPr>
          <a:xfrm flipV="1">
            <a:off x="1170305" y="139954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7" name="文本框 26"/>
          <p:cNvSpPr txBox="1"/>
          <p:nvPr userDrawn="1">
            <p:custDataLst>
              <p:tags r:id="rId7"/>
            </p:custDataLst>
          </p:nvPr>
        </p:nvSpPr>
        <p:spPr>
          <a:xfrm flipV="1">
            <a:off x="726440" y="139954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2298000" y="2797200"/>
            <a:ext cx="7596000" cy="1080000"/>
          </a:xfr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2707200" y="2026800"/>
            <a:ext cx="6775200" cy="4608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4656000" y="46188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2" Type="http://schemas.openxmlformats.org/officeDocument/2006/relationships/theme" Target="../theme/theme2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>
            <p:custDataLst>
              <p:tags r:id="rId17"/>
            </p:custDataLst>
          </p:nvPr>
        </p:nvSpPr>
        <p:spPr>
          <a:xfrm flipH="1" flipV="1">
            <a:off x="10631170" y="498475"/>
            <a:ext cx="151765" cy="380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15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18"/>
            </p:custDataLst>
          </p:nvPr>
        </p:nvSpPr>
        <p:spPr>
          <a:xfrm flipH="1" flipV="1">
            <a:off x="10864215" y="498475"/>
            <a:ext cx="147320" cy="380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15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19"/>
            </p:custDataLst>
          </p:nvPr>
        </p:nvSpPr>
        <p:spPr>
          <a:xfrm flipH="1">
            <a:off x="10270490" y="134620"/>
            <a:ext cx="1921510" cy="742950"/>
          </a:xfrm>
          <a:custGeom>
            <a:avLst/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/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 5"/>
          <p:cNvSpPr/>
          <p:nvPr userDrawn="1">
            <p:custDataLst>
              <p:tags r:id="rId20"/>
            </p:custDataLst>
          </p:nvPr>
        </p:nvSpPr>
        <p:spPr>
          <a:xfrm flipV="1">
            <a:off x="914400" y="449580"/>
            <a:ext cx="10406380" cy="749935"/>
          </a:xfrm>
          <a:custGeom>
            <a:avLst/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/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74090" y="9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image" Target="../media/image4.png"/><Relationship Id="rId7" Type="http://schemas.openxmlformats.org/officeDocument/2006/relationships/tags" Target="../tags/tag96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95.xml"/><Relationship Id="rId3" Type="http://schemas.openxmlformats.org/officeDocument/2006/relationships/image" Target="../media/image1.png"/><Relationship Id="rId2" Type="http://schemas.openxmlformats.org/officeDocument/2006/relationships/tags" Target="../tags/tag94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9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17.xml"/><Relationship Id="rId4" Type="http://schemas.openxmlformats.org/officeDocument/2006/relationships/image" Target="../media/image5.png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image" Target="../media/image6.jpeg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2.png"/><Relationship Id="rId7" Type="http://schemas.openxmlformats.org/officeDocument/2006/relationships/tags" Target="../tags/tag145.xml"/><Relationship Id="rId6" Type="http://schemas.openxmlformats.org/officeDocument/2006/relationships/image" Target="../media/image4.png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47.xml"/><Relationship Id="rId11" Type="http://schemas.openxmlformats.org/officeDocument/2006/relationships/image" Target="../media/image1.png"/><Relationship Id="rId10" Type="http://schemas.openxmlformats.org/officeDocument/2006/relationships/tags" Target="../tags/tag146.xml"/><Relationship Id="rId1" Type="http://schemas.openxmlformats.org/officeDocument/2006/relationships/tags" Target="../tags/tag140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51.xml"/><Relationship Id="rId4" Type="http://schemas.openxmlformats.org/officeDocument/2006/relationships/image" Target="../media/image7.png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5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15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20.xml"/><Relationship Id="rId1" Type="http://schemas.openxmlformats.org/officeDocument/2006/relationships/tags" Target="../tags/tag17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94.xml"/><Relationship Id="rId3" Type="http://schemas.openxmlformats.org/officeDocument/2006/relationships/image" Target="../media/image12.png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97.xml"/><Relationship Id="rId3" Type="http://schemas.openxmlformats.org/officeDocument/2006/relationships/image" Target="../media/image13.png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00.xml"/><Relationship Id="rId3" Type="http://schemas.openxmlformats.org/officeDocument/2006/relationships/image" Target="../media/image14.png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03.xml"/><Relationship Id="rId3" Type="http://schemas.openxmlformats.org/officeDocument/2006/relationships/image" Target="../media/image15.png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17.xml"/><Relationship Id="rId5" Type="http://schemas.openxmlformats.org/officeDocument/2006/relationships/tags" Target="../tags/tag208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207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1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26540" y="1440180"/>
            <a:ext cx="9180195" cy="3406775"/>
          </a:xfrm>
        </p:spPr>
        <p:txBody>
          <a:bodyPr>
            <a:normAutofit/>
          </a:bodyPr>
          <a:lstStyle/>
          <a:p>
            <a:r>
              <a:rPr lang="en-US" altLang="zh-CN" sz="4800"/>
              <a:t>HyperCRX-InsightPilot：</a:t>
            </a:r>
            <a:br>
              <a:rPr lang="en-US" altLang="zh-CN" sz="4800"/>
            </a:br>
            <a:r>
              <a:rPr lang="en-US" altLang="zh-CN" sz="4800"/>
              <a:t>面向开源项目的智能洞察与决策辅助系统</a:t>
            </a:r>
            <a:endParaRPr lang="en-US" altLang="zh-CN" sz="4800"/>
          </a:p>
        </p:txBody>
      </p:sp>
      <p:sp>
        <p:nvSpPr>
          <p:cNvPr id="6" name="文本框 5"/>
          <p:cNvSpPr txBox="1"/>
          <p:nvPr/>
        </p:nvSpPr>
        <p:spPr>
          <a:xfrm>
            <a:off x="4645660" y="4846955"/>
            <a:ext cx="29000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队伍：</a:t>
            </a:r>
            <a:r>
              <a:rPr lang="en-US" altLang="zh-CN" sz="2000" b="1"/>
              <a:t>X-Team</a:t>
            </a:r>
            <a:endParaRPr lang="en-US" altLang="zh-CN" sz="2000" b="1"/>
          </a:p>
          <a:p>
            <a:r>
              <a:rPr lang="zh-CN" altLang="en-US" sz="2000" b="1"/>
              <a:t>成员</a:t>
            </a:r>
            <a:r>
              <a:rPr lang="en-US" altLang="zh-CN" sz="2000" b="1"/>
              <a:t>：</a:t>
            </a:r>
            <a:r>
              <a:rPr lang="zh-CN" altLang="en-US" sz="2000" b="1"/>
              <a:t>王衍童</a:t>
            </a:r>
            <a:r>
              <a:rPr lang="en-US" altLang="zh-CN" sz="2000" b="1"/>
              <a:t>、</a:t>
            </a:r>
            <a:r>
              <a:rPr lang="zh-CN" altLang="en-US" sz="2000" b="1"/>
              <a:t>谢思怡</a:t>
            </a:r>
            <a:endParaRPr lang="zh-CN" altLang="en-US" sz="2000" b="1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01065" y="1665605"/>
            <a:ext cx="11035665" cy="2035810"/>
          </a:xfrm>
        </p:spPr>
        <p:txBody>
          <a:bodyPr>
            <a:normAutofit/>
          </a:bodyPr>
          <a:p>
            <a:r>
              <a:rPr lang="zh-CN" altLang="en-US" b="1"/>
              <a:t>使用赛题</a:t>
            </a:r>
            <a:r>
              <a:rPr lang="en-US" altLang="zh-CN" b="1"/>
              <a:t>：OpenDigger：https://github.com/X-lab2017/open-digger</a:t>
            </a:r>
            <a:br>
              <a:rPr lang="en-US" altLang="zh-CN" b="1"/>
            </a:br>
            <a:br>
              <a:rPr lang="en-US" altLang="zh-CN" b="1"/>
            </a:br>
            <a:endParaRPr lang="en-US" altLang="zh-CN" b="1"/>
          </a:p>
        </p:txBody>
      </p:sp>
      <p:pic>
        <p:nvPicPr>
          <p:cNvPr id="14" name="图片 1" descr="IMG_25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13510" y="3598545"/>
            <a:ext cx="1563370" cy="15633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 descr="箭头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3425" y="4008755"/>
            <a:ext cx="1828800" cy="7435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8021" t="8229" r="12396" b="8281"/>
          <a:stretch>
            <a:fillRect/>
          </a:stretch>
        </p:blipFill>
        <p:spPr>
          <a:xfrm>
            <a:off x="7529830" y="3241675"/>
            <a:ext cx="1828165" cy="192024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923398" y="1427023"/>
            <a:ext cx="478584" cy="478584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36000" tIns="3600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01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6760988" y="1456934"/>
            <a:ext cx="3401721" cy="4187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背景</a:t>
            </a: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意义</a:t>
            </a:r>
            <a:endParaRPr lang="zh-CN" altLang="en-US" sz="22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2" name="序号"/>
          <p:cNvSpPr txBox="1"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923398" y="2250969"/>
            <a:ext cx="478584" cy="478584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02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" name="项标题"/>
          <p:cNvSpPr txBox="1"/>
          <p:nvPr>
            <p:custDataLst>
              <p:tags r:id="rId5"/>
            </p:custDataLst>
          </p:nvPr>
        </p:nvSpPr>
        <p:spPr>
          <a:xfrm>
            <a:off x="6760988" y="2280881"/>
            <a:ext cx="3401721" cy="4187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项目</a:t>
            </a: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概述</a:t>
            </a:r>
            <a:endParaRPr lang="zh-CN" altLang="en-US" sz="22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5" name="序号"/>
          <p:cNvSpPr txBox="1"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923398" y="3074915"/>
            <a:ext cx="478584" cy="478584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03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6" name="项标题"/>
          <p:cNvSpPr txBox="1"/>
          <p:nvPr>
            <p:custDataLst>
              <p:tags r:id="rId7"/>
            </p:custDataLst>
          </p:nvPr>
        </p:nvSpPr>
        <p:spPr>
          <a:xfrm>
            <a:off x="6760988" y="3104827"/>
            <a:ext cx="3401721" cy="4187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技术框架及重难点</a:t>
            </a:r>
            <a:endParaRPr lang="zh-CN" altLang="en-US" sz="22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8" name="序号"/>
          <p:cNvSpPr txBox="1"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923398" y="3898862"/>
            <a:ext cx="478584" cy="478584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04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9" name="项标题"/>
          <p:cNvSpPr txBox="1"/>
          <p:nvPr>
            <p:custDataLst>
              <p:tags r:id="rId9"/>
            </p:custDataLst>
          </p:nvPr>
        </p:nvSpPr>
        <p:spPr>
          <a:xfrm>
            <a:off x="6760988" y="3928773"/>
            <a:ext cx="3401721" cy="4187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功能实现及演示</a:t>
            </a:r>
            <a:endParaRPr lang="zh-CN" altLang="en-US" sz="22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" name="序号"/>
          <p:cNvSpPr txBox="1"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923398" y="4722808"/>
            <a:ext cx="478584" cy="478584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05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11"/>
            </p:custDataLst>
          </p:nvPr>
        </p:nvSpPr>
        <p:spPr>
          <a:xfrm>
            <a:off x="6760988" y="4752719"/>
            <a:ext cx="3401721" cy="4187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开源实践</a:t>
            </a:r>
            <a:endParaRPr lang="zh-CN" altLang="en-US" sz="22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3" name="任意多边形 32"/>
          <p:cNvSpPr/>
          <p:nvPr>
            <p:custDataLst>
              <p:tags r:id="rId12"/>
            </p:custDataLst>
          </p:nvPr>
        </p:nvSpPr>
        <p:spPr>
          <a:xfrm>
            <a:off x="1337834" y="3705840"/>
            <a:ext cx="2252137" cy="32038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7" h="505">
                <a:moveTo>
                  <a:pt x="259" y="0"/>
                </a:moveTo>
                <a:cubicBezTo>
                  <a:pt x="307" y="0"/>
                  <a:pt x="346" y="6"/>
                  <a:pt x="379" y="19"/>
                </a:cubicBezTo>
                <a:lnTo>
                  <a:pt x="379" y="119"/>
                </a:lnTo>
                <a:cubicBezTo>
                  <a:pt x="346" y="100"/>
                  <a:pt x="308" y="90"/>
                  <a:pt x="266" y="90"/>
                </a:cubicBezTo>
                <a:cubicBezTo>
                  <a:pt x="219" y="90"/>
                  <a:pt x="181" y="105"/>
                  <a:pt x="152" y="136"/>
                </a:cubicBezTo>
                <a:cubicBezTo>
                  <a:pt x="124" y="166"/>
                  <a:pt x="109" y="206"/>
                  <a:pt x="109" y="255"/>
                </a:cubicBezTo>
                <a:cubicBezTo>
                  <a:pt x="109" y="303"/>
                  <a:pt x="123" y="342"/>
                  <a:pt x="150" y="371"/>
                </a:cubicBezTo>
                <a:cubicBezTo>
                  <a:pt x="177" y="400"/>
                  <a:pt x="214" y="414"/>
                  <a:pt x="260" y="414"/>
                </a:cubicBezTo>
                <a:cubicBezTo>
                  <a:pt x="303" y="414"/>
                  <a:pt x="343" y="404"/>
                  <a:pt x="379" y="383"/>
                </a:cubicBezTo>
                <a:lnTo>
                  <a:pt x="379" y="478"/>
                </a:lnTo>
                <a:cubicBezTo>
                  <a:pt x="343" y="496"/>
                  <a:pt x="297" y="505"/>
                  <a:pt x="240" y="505"/>
                </a:cubicBezTo>
                <a:cubicBezTo>
                  <a:pt x="166" y="505"/>
                  <a:pt x="108" y="483"/>
                  <a:pt x="65" y="439"/>
                </a:cubicBezTo>
                <a:cubicBezTo>
                  <a:pt x="22" y="395"/>
                  <a:pt x="0" y="336"/>
                  <a:pt x="0" y="263"/>
                </a:cubicBezTo>
                <a:cubicBezTo>
                  <a:pt x="0" y="186"/>
                  <a:pt x="24" y="123"/>
                  <a:pt x="72" y="74"/>
                </a:cubicBezTo>
                <a:cubicBezTo>
                  <a:pt x="120" y="25"/>
                  <a:pt x="183" y="0"/>
                  <a:pt x="259" y="0"/>
                </a:cubicBezTo>
                <a:close/>
                <a:moveTo>
                  <a:pt x="3405" y="0"/>
                </a:moveTo>
                <a:cubicBezTo>
                  <a:pt x="3453" y="0"/>
                  <a:pt x="3493" y="6"/>
                  <a:pt x="3525" y="19"/>
                </a:cubicBezTo>
                <a:lnTo>
                  <a:pt x="3525" y="116"/>
                </a:lnTo>
                <a:cubicBezTo>
                  <a:pt x="3493" y="94"/>
                  <a:pt x="3454" y="83"/>
                  <a:pt x="3410" y="83"/>
                </a:cubicBezTo>
                <a:cubicBezTo>
                  <a:pt x="3385" y="83"/>
                  <a:pt x="3364" y="88"/>
                  <a:pt x="3349" y="97"/>
                </a:cubicBezTo>
                <a:cubicBezTo>
                  <a:pt x="3334" y="106"/>
                  <a:pt x="3326" y="119"/>
                  <a:pt x="3326" y="134"/>
                </a:cubicBezTo>
                <a:cubicBezTo>
                  <a:pt x="3326" y="147"/>
                  <a:pt x="3331" y="159"/>
                  <a:pt x="3342" y="169"/>
                </a:cubicBezTo>
                <a:cubicBezTo>
                  <a:pt x="3352" y="180"/>
                  <a:pt x="3378" y="194"/>
                  <a:pt x="3419" y="212"/>
                </a:cubicBezTo>
                <a:cubicBezTo>
                  <a:pt x="3468" y="233"/>
                  <a:pt x="3501" y="255"/>
                  <a:pt x="3519" y="278"/>
                </a:cubicBezTo>
                <a:cubicBezTo>
                  <a:pt x="3538" y="301"/>
                  <a:pt x="3547" y="329"/>
                  <a:pt x="3547" y="361"/>
                </a:cubicBezTo>
                <a:cubicBezTo>
                  <a:pt x="3547" y="407"/>
                  <a:pt x="3530" y="443"/>
                  <a:pt x="3497" y="468"/>
                </a:cubicBezTo>
                <a:cubicBezTo>
                  <a:pt x="3464" y="492"/>
                  <a:pt x="3417" y="505"/>
                  <a:pt x="3356" y="505"/>
                </a:cubicBezTo>
                <a:cubicBezTo>
                  <a:pt x="3300" y="505"/>
                  <a:pt x="3254" y="496"/>
                  <a:pt x="3218" y="477"/>
                </a:cubicBezTo>
                <a:lnTo>
                  <a:pt x="3218" y="373"/>
                </a:lnTo>
                <a:cubicBezTo>
                  <a:pt x="3257" y="406"/>
                  <a:pt x="3302" y="422"/>
                  <a:pt x="3352" y="422"/>
                </a:cubicBezTo>
                <a:cubicBezTo>
                  <a:pt x="3380" y="422"/>
                  <a:pt x="3402" y="417"/>
                  <a:pt x="3416" y="407"/>
                </a:cubicBezTo>
                <a:cubicBezTo>
                  <a:pt x="3430" y="398"/>
                  <a:pt x="3437" y="385"/>
                  <a:pt x="3437" y="370"/>
                </a:cubicBezTo>
                <a:cubicBezTo>
                  <a:pt x="3437" y="357"/>
                  <a:pt x="3432" y="344"/>
                  <a:pt x="3420" y="332"/>
                </a:cubicBezTo>
                <a:cubicBezTo>
                  <a:pt x="3409" y="321"/>
                  <a:pt x="3379" y="305"/>
                  <a:pt x="3331" y="284"/>
                </a:cubicBezTo>
                <a:cubicBezTo>
                  <a:pt x="3254" y="252"/>
                  <a:pt x="3216" y="205"/>
                  <a:pt x="3216" y="143"/>
                </a:cubicBezTo>
                <a:cubicBezTo>
                  <a:pt x="3216" y="98"/>
                  <a:pt x="3234" y="63"/>
                  <a:pt x="3268" y="38"/>
                </a:cubicBezTo>
                <a:cubicBezTo>
                  <a:pt x="3303" y="13"/>
                  <a:pt x="3348" y="0"/>
                  <a:pt x="3405" y="0"/>
                </a:cubicBezTo>
                <a:close/>
                <a:moveTo>
                  <a:pt x="976" y="8"/>
                </a:moveTo>
                <a:lnTo>
                  <a:pt x="1089" y="8"/>
                </a:lnTo>
                <a:lnTo>
                  <a:pt x="1288" y="315"/>
                </a:lnTo>
                <a:cubicBezTo>
                  <a:pt x="1301" y="335"/>
                  <a:pt x="1309" y="348"/>
                  <a:pt x="1312" y="354"/>
                </a:cubicBezTo>
                <a:lnTo>
                  <a:pt x="1314" y="354"/>
                </a:lnTo>
                <a:cubicBezTo>
                  <a:pt x="1312" y="342"/>
                  <a:pt x="1311" y="319"/>
                  <a:pt x="1311" y="286"/>
                </a:cubicBezTo>
                <a:lnTo>
                  <a:pt x="1311" y="8"/>
                </a:lnTo>
                <a:lnTo>
                  <a:pt x="1409" y="8"/>
                </a:lnTo>
                <a:lnTo>
                  <a:pt x="1409" y="496"/>
                </a:lnTo>
                <a:lnTo>
                  <a:pt x="1303" y="496"/>
                </a:lnTo>
                <a:lnTo>
                  <a:pt x="1096" y="180"/>
                </a:lnTo>
                <a:cubicBezTo>
                  <a:pt x="1085" y="164"/>
                  <a:pt x="1078" y="151"/>
                  <a:pt x="1073" y="141"/>
                </a:cubicBezTo>
                <a:lnTo>
                  <a:pt x="1071" y="141"/>
                </a:lnTo>
                <a:cubicBezTo>
                  <a:pt x="1073" y="158"/>
                  <a:pt x="1074" y="184"/>
                  <a:pt x="1074" y="219"/>
                </a:cubicBezTo>
                <a:lnTo>
                  <a:pt x="1074" y="496"/>
                </a:lnTo>
                <a:lnTo>
                  <a:pt x="976" y="496"/>
                </a:lnTo>
                <a:lnTo>
                  <a:pt x="976" y="8"/>
                </a:lnTo>
                <a:close/>
                <a:moveTo>
                  <a:pt x="1470" y="8"/>
                </a:moveTo>
                <a:lnTo>
                  <a:pt x="1852" y="8"/>
                </a:lnTo>
                <a:lnTo>
                  <a:pt x="1852" y="93"/>
                </a:lnTo>
                <a:lnTo>
                  <a:pt x="1713" y="93"/>
                </a:lnTo>
                <a:lnTo>
                  <a:pt x="1713" y="496"/>
                </a:lnTo>
                <a:lnTo>
                  <a:pt x="1609" y="496"/>
                </a:lnTo>
                <a:lnTo>
                  <a:pt x="1609" y="93"/>
                </a:lnTo>
                <a:lnTo>
                  <a:pt x="1470" y="93"/>
                </a:lnTo>
                <a:lnTo>
                  <a:pt x="1470" y="8"/>
                </a:lnTo>
                <a:close/>
                <a:moveTo>
                  <a:pt x="1921" y="8"/>
                </a:moveTo>
                <a:lnTo>
                  <a:pt x="2198" y="8"/>
                </a:lnTo>
                <a:lnTo>
                  <a:pt x="2198" y="93"/>
                </a:lnTo>
                <a:lnTo>
                  <a:pt x="2024" y="93"/>
                </a:lnTo>
                <a:lnTo>
                  <a:pt x="2024" y="208"/>
                </a:lnTo>
                <a:lnTo>
                  <a:pt x="2186" y="208"/>
                </a:lnTo>
                <a:lnTo>
                  <a:pt x="2186" y="293"/>
                </a:lnTo>
                <a:lnTo>
                  <a:pt x="2024" y="293"/>
                </a:lnTo>
                <a:lnTo>
                  <a:pt x="2024" y="411"/>
                </a:lnTo>
                <a:lnTo>
                  <a:pt x="2209" y="411"/>
                </a:lnTo>
                <a:lnTo>
                  <a:pt x="2209" y="496"/>
                </a:lnTo>
                <a:lnTo>
                  <a:pt x="1921" y="496"/>
                </a:lnTo>
                <a:lnTo>
                  <a:pt x="1921" y="8"/>
                </a:lnTo>
                <a:close/>
                <a:moveTo>
                  <a:pt x="2296" y="8"/>
                </a:moveTo>
                <a:lnTo>
                  <a:pt x="2409" y="8"/>
                </a:lnTo>
                <a:lnTo>
                  <a:pt x="2608" y="315"/>
                </a:lnTo>
                <a:cubicBezTo>
                  <a:pt x="2621" y="335"/>
                  <a:pt x="2629" y="348"/>
                  <a:pt x="2632" y="354"/>
                </a:cubicBezTo>
                <a:lnTo>
                  <a:pt x="2634" y="354"/>
                </a:lnTo>
                <a:cubicBezTo>
                  <a:pt x="2632" y="342"/>
                  <a:pt x="2631" y="319"/>
                  <a:pt x="2631" y="286"/>
                </a:cubicBezTo>
                <a:lnTo>
                  <a:pt x="2631" y="8"/>
                </a:lnTo>
                <a:lnTo>
                  <a:pt x="2729" y="8"/>
                </a:lnTo>
                <a:lnTo>
                  <a:pt x="2729" y="496"/>
                </a:lnTo>
                <a:lnTo>
                  <a:pt x="2623" y="496"/>
                </a:lnTo>
                <a:lnTo>
                  <a:pt x="2416" y="180"/>
                </a:lnTo>
                <a:cubicBezTo>
                  <a:pt x="2405" y="164"/>
                  <a:pt x="2398" y="151"/>
                  <a:pt x="2393" y="141"/>
                </a:cubicBezTo>
                <a:lnTo>
                  <a:pt x="2391" y="141"/>
                </a:lnTo>
                <a:cubicBezTo>
                  <a:pt x="2393" y="158"/>
                  <a:pt x="2394" y="184"/>
                  <a:pt x="2394" y="219"/>
                </a:cubicBezTo>
                <a:lnTo>
                  <a:pt x="2394" y="496"/>
                </a:lnTo>
                <a:lnTo>
                  <a:pt x="2296" y="496"/>
                </a:lnTo>
                <a:lnTo>
                  <a:pt x="2296" y="8"/>
                </a:lnTo>
                <a:close/>
                <a:moveTo>
                  <a:pt x="2790" y="8"/>
                </a:moveTo>
                <a:lnTo>
                  <a:pt x="3172" y="8"/>
                </a:lnTo>
                <a:lnTo>
                  <a:pt x="3172" y="93"/>
                </a:lnTo>
                <a:lnTo>
                  <a:pt x="3033" y="93"/>
                </a:lnTo>
                <a:lnTo>
                  <a:pt x="3033" y="496"/>
                </a:lnTo>
                <a:lnTo>
                  <a:pt x="2929" y="496"/>
                </a:lnTo>
                <a:lnTo>
                  <a:pt x="2929" y="93"/>
                </a:lnTo>
                <a:lnTo>
                  <a:pt x="2790" y="93"/>
                </a:lnTo>
                <a:lnTo>
                  <a:pt x="2790" y="8"/>
                </a:lnTo>
                <a:close/>
                <a:moveTo>
                  <a:pt x="661" y="90"/>
                </a:moveTo>
                <a:cubicBezTo>
                  <a:pt x="620" y="90"/>
                  <a:pt x="588" y="105"/>
                  <a:pt x="564" y="135"/>
                </a:cubicBezTo>
                <a:cubicBezTo>
                  <a:pt x="541" y="166"/>
                  <a:pt x="529" y="205"/>
                  <a:pt x="529" y="253"/>
                </a:cubicBezTo>
                <a:cubicBezTo>
                  <a:pt x="529" y="300"/>
                  <a:pt x="541" y="339"/>
                  <a:pt x="564" y="369"/>
                </a:cubicBezTo>
                <a:cubicBezTo>
                  <a:pt x="586" y="399"/>
                  <a:pt x="618" y="414"/>
                  <a:pt x="658" y="414"/>
                </a:cubicBezTo>
                <a:cubicBezTo>
                  <a:pt x="699" y="414"/>
                  <a:pt x="730" y="400"/>
                  <a:pt x="753" y="371"/>
                </a:cubicBezTo>
                <a:cubicBezTo>
                  <a:pt x="776" y="342"/>
                  <a:pt x="787" y="303"/>
                  <a:pt x="787" y="255"/>
                </a:cubicBezTo>
                <a:cubicBezTo>
                  <a:pt x="787" y="204"/>
                  <a:pt x="776" y="164"/>
                  <a:pt x="754" y="134"/>
                </a:cubicBezTo>
                <a:cubicBezTo>
                  <a:pt x="732" y="105"/>
                  <a:pt x="701" y="90"/>
                  <a:pt x="661" y="90"/>
                </a:cubicBezTo>
                <a:close/>
                <a:moveTo>
                  <a:pt x="664" y="0"/>
                </a:moveTo>
                <a:cubicBezTo>
                  <a:pt x="733" y="0"/>
                  <a:pt x="790" y="23"/>
                  <a:pt x="832" y="70"/>
                </a:cubicBezTo>
                <a:cubicBezTo>
                  <a:pt x="875" y="116"/>
                  <a:pt x="896" y="176"/>
                  <a:pt x="896" y="248"/>
                </a:cubicBezTo>
                <a:cubicBezTo>
                  <a:pt x="896" y="324"/>
                  <a:pt x="874" y="386"/>
                  <a:pt x="830" y="434"/>
                </a:cubicBezTo>
                <a:cubicBezTo>
                  <a:pt x="785" y="481"/>
                  <a:pt x="727" y="505"/>
                  <a:pt x="656" y="505"/>
                </a:cubicBezTo>
                <a:cubicBezTo>
                  <a:pt x="586" y="505"/>
                  <a:pt x="529" y="482"/>
                  <a:pt x="486" y="436"/>
                </a:cubicBezTo>
                <a:cubicBezTo>
                  <a:pt x="442" y="390"/>
                  <a:pt x="420" y="331"/>
                  <a:pt x="420" y="259"/>
                </a:cubicBezTo>
                <a:cubicBezTo>
                  <a:pt x="420" y="182"/>
                  <a:pt x="442" y="120"/>
                  <a:pt x="487" y="72"/>
                </a:cubicBezTo>
                <a:cubicBezTo>
                  <a:pt x="532" y="24"/>
                  <a:pt x="590" y="0"/>
                  <a:pt x="664" y="0"/>
                </a:cubicBezTo>
                <a:close/>
              </a:path>
            </a:pathLst>
          </a:cu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背景</a:t>
            </a: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意义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 b="1"/>
              <a:t>背景</a:t>
            </a:r>
            <a:r>
              <a:rPr lang="en-US" altLang="zh-CN" b="1"/>
              <a:t>：GitHub</a:t>
            </a:r>
            <a:r>
              <a:rPr lang="zh-CN" altLang="en-US" b="1"/>
              <a:t>可视化分析</a:t>
            </a:r>
            <a:r>
              <a:rPr lang="zh-CN" altLang="en-US" b="1"/>
              <a:t>现状</a:t>
            </a:r>
            <a:endParaRPr lang="zh-CN" altLang="en-US" b="1"/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03200" y="1584325"/>
            <a:ext cx="5773420" cy="4738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GitHub仓库的视觉分析工具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（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如仪表盘、插件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）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已经非常普及。它们提供了丰富的数据维度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。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Star事件活动(Star Events)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贡献者增长(Contributor Growth)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代码提交频率(Commit Frequency)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这些工具帮助开发者快速浏览项目的基本健康状况。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4" name="图片 -2147482352" descr="截屏2024-11-10 17.50.3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3740"/>
          <a:stretch>
            <a:fillRect/>
          </a:stretch>
        </p:blipFill>
        <p:spPr>
          <a:xfrm>
            <a:off x="6146165" y="1584325"/>
            <a:ext cx="5773420" cy="46907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 b="1">
                <a:sym typeface="+mn-ea"/>
              </a:rPr>
              <a:t>痛点</a:t>
            </a:r>
            <a:r>
              <a:rPr lang="en-US" altLang="zh-CN" b="1">
                <a:sym typeface="+mn-ea"/>
              </a:rPr>
              <a:t>：</a:t>
            </a:r>
            <a:r>
              <a:rPr lang="zh-CN" altLang="en-US" b="1">
                <a:sym typeface="+mn-ea"/>
              </a:rPr>
              <a:t>缺乏</a:t>
            </a:r>
            <a:r>
              <a:rPr lang="zh-CN" altLang="en-US" b="1">
                <a:sym typeface="+mn-ea"/>
              </a:rPr>
              <a:t>解释性</a:t>
            </a:r>
            <a:endParaRPr lang="zh-CN" altLang="en-US" b="1">
              <a:sym typeface="+mn-ea"/>
            </a:endParaRPr>
          </a:p>
        </p:txBody>
      </p:sp>
      <p:pic>
        <p:nvPicPr>
          <p:cNvPr id="2" name="图片 1"/>
          <p:cNvPicPr/>
          <p:nvPr>
            <p:custDataLst>
              <p:tags r:id="rId2"/>
            </p:custDataLst>
          </p:nvPr>
        </p:nvPicPr>
        <p:blipFill>
          <a:blip r:embed="rId3"/>
          <a:srcRect l="11620"/>
          <a:stretch>
            <a:fillRect/>
          </a:stretch>
        </p:blipFill>
        <p:spPr>
          <a:xfrm>
            <a:off x="-138430" y="3794760"/>
            <a:ext cx="3609975" cy="306324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077210" y="1584325"/>
            <a:ext cx="7965440" cy="4738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>
              <a:buClrTx/>
              <a:buSzTx/>
              <a:buNone/>
            </a:pP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尽管图表丰富，但它们通常缺乏解释性文字。用户必须手动分析趋势、寻找异常点，并结合上下文去猜测数据背后的含义。这不仅耗时，而且容易导致误读，特别是对于复杂的复合指标。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因此，我们设计实现了</a:t>
            </a:r>
            <a:r>
              <a:rPr lang="en-US" altLang="zh-CN" sz="2400" b="1">
                <a:latin typeface="Arial Bold" panose="020B0604020202090204" charset="0"/>
                <a:cs typeface="Arial Bold" panose="020B0604020202090204" charset="0"/>
                <a:sym typeface="+mn-ea"/>
              </a:rPr>
              <a:t>HyperCRX-InsightPilot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</a:t>
            </a:r>
            <a:r>
              <a:rPr lang="zh-CN" altLang="en-US" sz="2400" b="1">
                <a:uFillTx/>
                <a:latin typeface="Songti SC Bold" panose="02010800040101010101" charset="-122"/>
                <a:ea typeface="Songti SC Bold" panose="02010800040101010101" charset="-122"/>
                <a:sym typeface="+mn-ea"/>
              </a:rPr>
              <a:t>赋能开源洞察及开源运营的全面自动化工具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。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Font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这是一款浏览器扩展插件，旨在为用户提供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Songti SC Bold" panose="02010800040101010101" charset="-122"/>
                <a:ea typeface="Songti SC Bold" panose="02010800040101010101" charset="-122"/>
                <a:sym typeface="+mn-ea"/>
              </a:rPr>
              <a:t>实时的项目和开发者活动数据深度洞察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，提升用户开源体验。进行了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Songti SC Bold" panose="02010800040101010101" charset="-122"/>
                <a:ea typeface="Songti SC Bold" panose="02010800040101010101" charset="-122"/>
                <a:sym typeface="+mn-ea"/>
              </a:rPr>
              <a:t>智能化和自动化场景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的探索，为</a:t>
            </a:r>
            <a:r>
              <a:rPr lang="zh-CN" altLang="en-US" sz="2400">
                <a:solidFill>
                  <a:srgbClr val="FF0000"/>
                </a:solidFill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开源社区的数字化运营与分析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提供有力支持。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/>
            <a:endParaRPr lang="zh-CN" altLang="en-US" sz="24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项目概述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latin typeface="Arial Bold" panose="020B0604020202090204" charset="0"/>
                <a:cs typeface="Arial Bold" panose="020B0604020202090204" charset="0"/>
                <a:sym typeface="+mn-ea"/>
              </a:rPr>
              <a:t>HyperCRX-InsightPilot </a:t>
            </a:r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整体</a:t>
            </a:r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方案</a:t>
            </a:r>
            <a:endParaRPr lang="zh-CN" altLang="en-US"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800100" y="1260475"/>
            <a:ext cx="9118600" cy="5522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/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InsightPilot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以浏览器扩展形式深度嵌入 GitHub 与 Gitee 平台，构建了一个面向开源生态的智能数据洞察与运营支持系统。系统以前端轻量化部署为入口，后端依托 OpenDigger 的指标生产与分析能力，实现对开源项目与开发者行为的持续监测与分析。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indent="457200"/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在系统架构上，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通过规则控制、上下文记忆、检索增强（RAG）与大语言模型推理的协同设计，支持对多源开源数据的统一解析与语义推理。系统能够根据用户的操作行为与分析需求，动态选择分析路径，完成趋势识别、异常检测、语义解读与结果生成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indent="457200"/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通过将可视化分析、自然语言交互与智能推理能力整合进开发者的日常工作流程，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实现了从“平台外分析”向“平台内洞察”的转变，为开源项目的运营分析与决策支持提供了统一、低门槛的解决方案。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latin typeface="Arial Bold" panose="020B0604020202090204" charset="0"/>
                <a:cs typeface="Arial Bold" panose="020B0604020202090204" charset="0"/>
                <a:sym typeface="+mn-ea"/>
              </a:rPr>
              <a:t>HyperCRX-InsightPilot </a:t>
            </a:r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核心</a:t>
            </a:r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功能</a:t>
            </a:r>
            <a:endParaRPr lang="zh-CN" altLang="en-US"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874395" y="1210945"/>
            <a:ext cx="8709660" cy="5522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/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     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在功能层面构建了完整的智能分析闭环，主要包括以下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三个方面：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     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Songti SC Bold" panose="02010800040101010101" charset="-122"/>
                <a:ea typeface="Songti SC Bold" panose="02010800040101010101" charset="-122"/>
                <a:cs typeface="思源黑体 CN Normal" panose="020B0400000000000000" charset="-122"/>
                <a:sym typeface="+mn-ea"/>
              </a:rPr>
              <a:t>语义化趋势解读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：系统对项目关键指标的时间序列进行分阶段对比分析，自动识别显著趋势变化与异常波动，并结合语义模板与大语言模型生成可解释的自然语言解读，实现从图表数据到语义洞察的自动转化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。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      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Songti SC Bold" panose="02010800040101010101" charset="-122"/>
                <a:ea typeface="Songti SC Bold" panose="02010800040101010101" charset="-122"/>
                <a:cs typeface="思源黑体 CN Normal" panose="020B0400000000000000" charset="-122"/>
                <a:sym typeface="+mn-ea"/>
              </a:rPr>
              <a:t>智能化分析报告生成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：系统支持一键生成项目分析报告，自动整合项目健康度、社区活跃度与开发者参与度等多维指标，形成结构化分析内容，并通过 HyperEval 框架保障生成结果的准确性与一致性。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    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Songti SC Bold" panose="02010800040101010101" charset="-122"/>
                <a:ea typeface="Songti SC Bold" panose="02010800040101010101" charset="-122"/>
                <a:cs typeface="思源黑体 CN Normal" panose="020B0400000000000000" charset="-122"/>
                <a:sym typeface="+mn-ea"/>
              </a:rPr>
              <a:t>交互式问答与推理分析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：用户可通过自然语言提出分析问题，系统将基于项目上下文与历史趋势进行多指标语义融合与推理，生成面向原因分析与运营决策的解释性回答。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从“指标展示”到“语义理解”的转变</a:t>
            </a:r>
            <a:endParaRPr lang="zh-CN" altLang="en-US"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949960" y="1397635"/>
            <a:ext cx="9006840" cy="4864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/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的首要创新在于引入语义驱动的指标认知机制。系统通过将大语言模型与指标语义模板相结合，使项目关键指标不再仅以数值或图表形式呈现，而是被映射为具有语义含义的行为信号与趋势描述。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该机制能够：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自动识别指标变化的方向、幅度与阶段性特征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对异常波动进行语义化标注与原因推断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将定量变化转化为符合认知习惯的自然语言解释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这一创新突破了传统开源分析工具以“可视化展示”为核心的分析范式，为理解项目演化过程提供了新的语义层视角。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智能交互与可信生成机制</a:t>
            </a:r>
            <a:endParaRPr lang="zh-CN" altLang="en-US"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882015" y="1521460"/>
            <a:ext cx="10223500" cy="4864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457200"/>
            <a:r>
              <a:rPr 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在交互与分析层面，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提出了认知增强的智能问答机制。系统能够根据用户提问的上下文，自适应整合多维指标、历史趋势与社区行为模式，完成语义推理并生成具有针对性的运营建议，实现从结果解读到行动支持的跃迁。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</a:t>
            </a:r>
            <a:endParaRPr lang="en-US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同时，针对大语言模型在专业分析场景中可能出现的“幻觉”问题，系统设计了HyperEval 生成自评估框架，从数值一致性、事实对齐与上下文一致性等维度对生成内容进行验证，形成“生成—评估—再生成”的闭环优化机制。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endParaRPr lang="en-US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上述创新使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不仅具备智能分析能力，也在可信性、可解释性与可扩展性方面显著优于现有开源数据分析工具，为构建可持续演化的开源生态智能运营平台奠定了基础。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技术框架及重难点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数据机制</a:t>
            </a:r>
            <a:endParaRPr lang="zh-CN" altLang="en-US" b="1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58165" y="1445895"/>
            <a:ext cx="10440670" cy="133731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数据源采用从OpenDigger中选定的指标和网络对其进行可视化。OpenDigger是一个开源的分析工具，它从GitHub全域日志中提取数据，并为项目和开发人员生成定义良好的指标和网络。这些指标和网络以静态文件的形式发布在阿里云OSS上，供公众使用。数据文件划分为两种类别：存储库和开发人员。每个类别在上传到OSS后都遵循特定的URL模式，例如：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</a:endParaRPr>
          </a:p>
          <a:p>
            <a:endParaRPr lang="en-US" altLang="zh-CN" sz="1600"/>
          </a:p>
        </p:txBody>
      </p:sp>
      <p:graphicFrame>
        <p:nvGraphicFramePr>
          <p:cNvPr id="13" name="表格 12"/>
          <p:cNvGraphicFramePr/>
          <p:nvPr>
            <p:custDataLst>
              <p:tags r:id="rId3"/>
            </p:custDataLst>
          </p:nvPr>
        </p:nvGraphicFramePr>
        <p:xfrm>
          <a:off x="2658110" y="3689350"/>
          <a:ext cx="5749925" cy="109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0"/>
                <a:gridCol w="2867025"/>
              </a:tblGrid>
              <a:tr h="4406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类别</a:t>
                      </a:r>
                      <a:endParaRPr lang="zh-CN" altLang="en-US"/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URL</a:t>
                      </a:r>
                      <a:r>
                        <a:rPr lang="zh-CN" altLang="en-US" sz="1800">
                          <a:sym typeface="+mn-ea"/>
                        </a:rPr>
                        <a:t>模式</a:t>
                      </a:r>
                      <a:endParaRPr lang="zh-CN" altLang="en-US"/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</a:tr>
              <a:tr h="324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存储</a:t>
                      </a:r>
                      <a:r>
                        <a:rPr lang="zh-CN" altLang="en-US" sz="1200"/>
                        <a:t>库</a:t>
                      </a:r>
                      <a:endParaRPr lang="zh-CN" altLang="en-US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https://~/{owner}/{repo}/*.json</a:t>
                      </a:r>
                      <a:endParaRPr lang="en-US" altLang="zh-CN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083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/>
                        <a:t>开发</a:t>
                      </a:r>
                      <a:r>
                        <a:rPr lang="zh-CN" altLang="en-US" sz="1200"/>
                        <a:t>者</a:t>
                      </a:r>
                      <a:endParaRPr lang="zh-CN" altLang="en-US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/>
                        <a:t>https://~/{owner}/*.json</a:t>
                      </a:r>
                      <a:endParaRPr lang="en-US" altLang="zh-CN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85165" y="5086985"/>
            <a:ext cx="10440670" cy="133731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1.通过页面元素或页面url解析获取项目名称或开发者名称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2.根据不同图表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</a:rPr>
              <a:t>功能所需数据类型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对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OpenDigger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获取数据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</a:rPr>
              <a:t>的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url进行填充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3.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</a:rPr>
              <a:t>发送异步请求获取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</a:rPr>
              <a:t>数据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8021" t="8229" r="12396" b="8281"/>
          <a:stretch>
            <a:fillRect/>
          </a:stretch>
        </p:blipFill>
        <p:spPr>
          <a:xfrm>
            <a:off x="10556240" y="4785360"/>
            <a:ext cx="970915" cy="1019810"/>
          </a:xfrm>
          <a:prstGeom prst="rect">
            <a:avLst/>
          </a:prstGeom>
        </p:spPr>
      </p:pic>
      <p:pic>
        <p:nvPicPr>
          <p:cNvPr id="12" name="图片 11" descr="箭头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10767695" y="4109085"/>
            <a:ext cx="549275" cy="390525"/>
          </a:xfrm>
          <a:prstGeom prst="rect">
            <a:avLst/>
          </a:prstGeom>
        </p:spPr>
      </p:pic>
      <p:pic>
        <p:nvPicPr>
          <p:cNvPr id="14" name="图片 1" descr="IMG_25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37520" y="3002280"/>
            <a:ext cx="832485" cy="8324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功能注入</a:t>
            </a:r>
            <a:r>
              <a:rPr lang="en-US" altLang="zh-CN" b="1"/>
              <a:t>，</a:t>
            </a:r>
            <a:r>
              <a:rPr lang="zh-CN" altLang="en-US" b="1"/>
              <a:t>按需</a:t>
            </a:r>
            <a:r>
              <a:rPr lang="zh-CN" altLang="en-US" b="1"/>
              <a:t>加载</a:t>
            </a:r>
            <a:endParaRPr lang="zh-CN" altLang="en-US" b="1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66395" y="1408430"/>
            <a:ext cx="6877050" cy="456819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buClrTx/>
              <a:buSzTx/>
              <a:buNone/>
            </a:pPr>
            <a:r>
              <a:rPr lang="en-US" altLang="zh-CN" sz="2400">
                <a:latin typeface="微软雅黑" charset="0"/>
                <a:ea typeface="微软雅黑" charset="0"/>
                <a:cs typeface="微软雅黑" charset="0"/>
                <a:sym typeface="+mn-ea"/>
              </a:rPr>
              <a:t>HyperCRX-InsightPilot</a:t>
            </a:r>
            <a:r>
              <a:rPr lang="en-US" altLang="zh-CN" sz="2400"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采用轻量级的前端框架React，使用GitHub原生样式创建可视化元素，并能够将其无缝嵌入GitHub页面。用户触发加载条件时（例如鼠标悬停/点击、页面加载等），通过浏览器扩展的内容脚本功能，自动注入到目标网页的特定位置。并实现功能的按需加载。</a:t>
            </a:r>
            <a:endParaRPr lang="en-US" altLang="zh-CN" sz="2400"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endParaRPr lang="en-US" altLang="zh-CN" sz="2400"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400"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在执行之前，会检查每个功能是否启用。未启用的内容会被特征管理器直接忽略。对于已启用的功能，特征管理器会执行两项任务。一是立即执行，二是为潜在的未来运行注册事件监听器。</a:t>
            </a:r>
            <a:endParaRPr lang="en-US" altLang="zh-CN" sz="2400"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algn="l">
              <a:buClrTx/>
              <a:buSzTx/>
              <a:buNone/>
            </a:pPr>
            <a:endParaRPr lang="en-US" altLang="zh-CN" sz="20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057390" y="956945"/>
            <a:ext cx="4352290" cy="55111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功能注入</a:t>
            </a:r>
            <a:r>
              <a:rPr lang="en-US" altLang="zh-CN"/>
              <a:t>，</a:t>
            </a:r>
            <a:r>
              <a:rPr lang="zh-CN" altLang="en-US"/>
              <a:t>按需</a:t>
            </a:r>
            <a:r>
              <a:rPr lang="zh-CN" altLang="en-US"/>
              <a:t>加载</a:t>
            </a:r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165" y="1301750"/>
            <a:ext cx="10440670" cy="356362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buClrTx/>
              <a:buSzTx/>
              <a:buNone/>
            </a:pP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提供选项页面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允许用户选择加载功能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按需加载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切换语言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授权绑定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GitHub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账号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和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Gitee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账号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。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35" y="2230120"/>
            <a:ext cx="3616325" cy="40087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55" y="2230120"/>
            <a:ext cx="5174615" cy="38265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en-US" altLang="zh-CN" b="1">
                <a:sym typeface="+mn-ea"/>
              </a:rPr>
              <a:t>AI</a:t>
            </a:r>
            <a:r>
              <a:rPr lang="zh-CN" altLang="en-US" b="1">
                <a:sym typeface="+mn-ea"/>
              </a:rPr>
              <a:t>系统总体架构</a:t>
            </a:r>
            <a:endParaRPr lang="zh-CN" altLang="en-US" b="1"/>
          </a:p>
        </p:txBody>
      </p:sp>
      <p:sp>
        <p:nvSpPr>
          <p:cNvPr id="2" name="流程图: 可选过程 1"/>
          <p:cNvSpPr/>
          <p:nvPr/>
        </p:nvSpPr>
        <p:spPr>
          <a:xfrm>
            <a:off x="650240" y="1806575"/>
            <a:ext cx="1546225" cy="38804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流程图: 可选过程 3"/>
          <p:cNvSpPr/>
          <p:nvPr>
            <p:custDataLst>
              <p:tags r:id="rId2"/>
            </p:custDataLst>
          </p:nvPr>
        </p:nvSpPr>
        <p:spPr>
          <a:xfrm>
            <a:off x="2866390" y="1806575"/>
            <a:ext cx="1546225" cy="38804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流程图: 可选过程 4"/>
          <p:cNvSpPr/>
          <p:nvPr>
            <p:custDataLst>
              <p:tags r:id="rId3"/>
            </p:custDataLst>
          </p:nvPr>
        </p:nvSpPr>
        <p:spPr>
          <a:xfrm>
            <a:off x="5264785" y="1806575"/>
            <a:ext cx="1546225" cy="38804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流程图: 可选过程 5"/>
          <p:cNvSpPr/>
          <p:nvPr>
            <p:custDataLst>
              <p:tags r:id="rId4"/>
            </p:custDataLst>
          </p:nvPr>
        </p:nvSpPr>
        <p:spPr>
          <a:xfrm>
            <a:off x="7663180" y="1806575"/>
            <a:ext cx="1449070" cy="38804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流程图: 可选过程 6"/>
          <p:cNvSpPr/>
          <p:nvPr>
            <p:custDataLst>
              <p:tags r:id="rId5"/>
            </p:custDataLst>
          </p:nvPr>
        </p:nvSpPr>
        <p:spPr>
          <a:xfrm>
            <a:off x="9850755" y="1806575"/>
            <a:ext cx="1546225" cy="38804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4411980" y="3593465"/>
            <a:ext cx="854075" cy="7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6"/>
            </p:custDataLst>
          </p:nvPr>
        </p:nvSpPr>
        <p:spPr>
          <a:xfrm>
            <a:off x="2194560" y="3593465"/>
            <a:ext cx="671195" cy="762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>
            <p:custDataLst>
              <p:tags r:id="rId7"/>
            </p:custDataLst>
          </p:nvPr>
        </p:nvSpPr>
        <p:spPr>
          <a:xfrm>
            <a:off x="6800850" y="3593465"/>
            <a:ext cx="854075" cy="762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>
            <p:custDataLst>
              <p:tags r:id="rId8"/>
            </p:custDataLst>
          </p:nvPr>
        </p:nvSpPr>
        <p:spPr>
          <a:xfrm>
            <a:off x="9121140" y="3593465"/>
            <a:ext cx="732790" cy="762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82955" y="2072640"/>
            <a:ext cx="1287780" cy="864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/>
              <a:t>指标计算</a:t>
            </a:r>
            <a:endParaRPr lang="zh-CN" altLang="en-US" sz="2800" b="1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3023870" y="2072640"/>
            <a:ext cx="1287780" cy="864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/>
              <a:t>检索增强</a:t>
            </a:r>
            <a:endParaRPr lang="zh-CN" altLang="en-US" sz="2800" b="1"/>
          </a:p>
        </p:txBody>
      </p:sp>
      <p:sp>
        <p:nvSpPr>
          <p:cNvPr id="14" name="文本框 13"/>
          <p:cNvSpPr txBox="1"/>
          <p:nvPr/>
        </p:nvSpPr>
        <p:spPr>
          <a:xfrm>
            <a:off x="732790" y="3332480"/>
            <a:ext cx="14922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根据原始存储库数据计算三个层次的度量。</a:t>
            </a:r>
            <a:endParaRPr lang="zh-CN" altLang="en-US" sz="2000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2910840" y="3202940"/>
            <a:ext cx="149225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通过 RAG 机制，系统会从知识库中检索相关的信息，将其注入到模型上下文中。</a:t>
            </a:r>
            <a:endParaRPr lang="zh-CN" altLang="en-US" sz="2000"/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5358765" y="2072005"/>
            <a:ext cx="1419225" cy="86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/>
              <a:t>LLM</a:t>
            </a:r>
            <a:endParaRPr lang="zh-CN" altLang="en-US" sz="2800" b="1"/>
          </a:p>
        </p:txBody>
      </p:sp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7686040" y="2072005"/>
            <a:ext cx="1419225" cy="86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/>
              <a:t>自我</a:t>
            </a:r>
            <a:r>
              <a:rPr lang="zh-CN" altLang="en-US" sz="2800" b="1"/>
              <a:t>反思</a:t>
            </a:r>
            <a:endParaRPr lang="zh-CN" altLang="en-US" sz="2800" b="1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9879330" y="2072005"/>
            <a:ext cx="1419225" cy="86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/>
              <a:t>最终</a:t>
            </a:r>
            <a:r>
              <a:rPr lang="zh-CN" altLang="en-US" sz="2800" b="1"/>
              <a:t>输出</a:t>
            </a:r>
            <a:endParaRPr lang="zh-CN" altLang="en-US" sz="2800" b="1"/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5302250" y="3133725"/>
            <a:ext cx="149225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使用</a:t>
            </a:r>
            <a:r>
              <a:rPr lang="en-US" altLang="zh-CN" sz="2000"/>
              <a:t>Flan-T5,生成第一版自然语言解释，包括活动度、增长趋势、峰值变化等内容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7651115" y="3202940"/>
            <a:ext cx="14922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生成后的文本会进行内部校验</a:t>
            </a:r>
            <a:r>
              <a:rPr lang="en-US" altLang="zh-CN" sz="2000"/>
              <a:t>，若发现偏差，系统会自动修正内容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9871710" y="3202940"/>
            <a:ext cx="149225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经过事实校验与自我修正后，系统产出最终版本的解释。</a:t>
            </a:r>
            <a:endParaRPr lang="zh-CN" altLang="en-US" sz="2000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开放式分层指标</a:t>
            </a:r>
            <a:r>
              <a:rPr lang="zh-CN" altLang="en-US" b="1"/>
              <a:t>结构</a:t>
            </a:r>
            <a:endParaRPr lang="zh-CN" altLang="en-US" b="1"/>
          </a:p>
        </p:txBody>
      </p:sp>
      <p:cxnSp>
        <p:nvCxnSpPr>
          <p:cNvPr id="14" name="直接连接符 13"/>
          <p:cNvCxnSpPr>
            <a:stCxn id="7" idx="7"/>
            <a:endCxn id="2" idx="2"/>
          </p:cNvCxnSpPr>
          <p:nvPr/>
        </p:nvCxnSpPr>
        <p:spPr>
          <a:xfrm flipV="1">
            <a:off x="3589490" y="2432502"/>
            <a:ext cx="1434465" cy="1600835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直接连接符 15"/>
          <p:cNvCxnSpPr>
            <a:stCxn id="5" idx="1"/>
            <a:endCxn id="2" idx="6"/>
          </p:cNvCxnSpPr>
          <p:nvPr/>
        </p:nvCxnSpPr>
        <p:spPr>
          <a:xfrm flipH="1" flipV="1">
            <a:off x="6580851" y="2432655"/>
            <a:ext cx="1152525" cy="1600835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椭圆 1"/>
          <p:cNvSpPr/>
          <p:nvPr/>
        </p:nvSpPr>
        <p:spPr>
          <a:xfrm>
            <a:off x="5024120" y="1654175"/>
            <a:ext cx="1557020" cy="15570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4">
                <a:lumMod val="75000"/>
              </a:schemeClr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7" tIns="60943" rIns="121887" bIns="60943" rtlCol="0" anchor="ctr"/>
          <a:p>
            <a:pPr algn="ctr" defTabSz="1218565"/>
            <a:endParaRPr lang="zh-CN" altLang="en-US" sz="2100">
              <a:solidFill>
                <a:prstClr val="white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505952" y="3805745"/>
            <a:ext cx="1556883" cy="155688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4">
                <a:lumMod val="75000"/>
              </a:schemeClr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7" tIns="60943" rIns="121887" bIns="60943" rtlCol="0" anchor="ctr"/>
          <a:p>
            <a:pPr algn="ctr" defTabSz="1218565"/>
            <a:endParaRPr lang="zh-CN" altLang="en-US" sz="2100">
              <a:solidFill>
                <a:prstClr val="white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653790" y="4881880"/>
            <a:ext cx="4114165" cy="1504950"/>
          </a:xfrm>
          <a:prstGeom prst="rect">
            <a:avLst/>
          </a:prstGeom>
        </p:spPr>
        <p:txBody>
          <a:bodyPr wrap="square" lIns="121887" tIns="60943" rIns="121887" bIns="60943">
            <a:noAutofit/>
          </a:bodyPr>
          <a:p>
            <a:r>
              <a:rPr lang="zh-CN" altLang="en-US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stars、forks、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PR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、issues</a:t>
            </a:r>
            <a:endParaRPr lang="zh-CN" altLang="en-US" sz="2400" b="1" dirty="0">
              <a:solidFill>
                <a:schemeClr val="tx1"/>
              </a:solidFill>
              <a:latin typeface="Arial" panose="020B0604020202090204"/>
              <a:ea typeface="微软雅黑"/>
              <a:cs typeface="Helvetic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-113665" y="1284605"/>
            <a:ext cx="5489575" cy="610235"/>
          </a:xfrm>
          <a:prstGeom prst="rect">
            <a:avLst/>
          </a:prstGeom>
        </p:spPr>
        <p:txBody>
          <a:bodyPr wrap="square" lIns="121887" tIns="60943" rIns="121887" bIns="60943">
            <a:noAutofit/>
          </a:bodyPr>
          <a:p>
            <a:pPr algn="r"/>
            <a:r>
              <a:rPr lang="en-US" altLang="zh-CN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OpenRank、Activity、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支持响应度</a:t>
            </a:r>
            <a:endParaRPr lang="zh-CN" altLang="en-US" sz="2400" b="1" dirty="0">
              <a:solidFill>
                <a:schemeClr val="tx1"/>
              </a:solidFill>
              <a:latin typeface="Arial" panose="020B0604020202090204"/>
              <a:ea typeface="微软雅黑"/>
              <a:cs typeface="Helvetic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174230" y="1043940"/>
            <a:ext cx="4321810" cy="489585"/>
          </a:xfrm>
          <a:prstGeom prst="rect">
            <a:avLst/>
          </a:prstGeom>
        </p:spPr>
        <p:txBody>
          <a:bodyPr wrap="square" lIns="121887" tIns="60943" rIns="121887" bIns="60943">
            <a:spAutoFit/>
          </a:bodyPr>
          <a:p>
            <a:r>
              <a:rPr lang="zh-CN" altLang="en-US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长期增长、异常点、周期变化</a:t>
            </a:r>
            <a:endParaRPr lang="zh-CN" altLang="en-US" sz="2400" b="1" dirty="0">
              <a:solidFill>
                <a:schemeClr val="tx1"/>
              </a:solidFill>
              <a:latin typeface="Arial" panose="020B0604020202090204"/>
              <a:ea typeface="微软雅黑"/>
              <a:cs typeface="Helvetica"/>
            </a:endParaRPr>
          </a:p>
        </p:txBody>
      </p:sp>
      <p:sp>
        <p:nvSpPr>
          <p:cNvPr id="59" name="文本框 9"/>
          <p:cNvSpPr txBox="1"/>
          <p:nvPr/>
        </p:nvSpPr>
        <p:spPr>
          <a:xfrm>
            <a:off x="2806065" y="4124325"/>
            <a:ext cx="682625" cy="809625"/>
          </a:xfrm>
          <a:prstGeom prst="rect">
            <a:avLst/>
          </a:prstGeom>
          <a:noFill/>
        </p:spPr>
        <p:txBody>
          <a:bodyPr wrap="none" lIns="121887" tIns="60943" rIns="121887" bIns="60943" rtlCol="0" anchor="ctr">
            <a:noAutofit/>
          </a:bodyPr>
          <a:p>
            <a:pPr algn="ctr" defTabSz="1218565"/>
            <a:r>
              <a:rPr lang="en-US" altLang="zh-CN" sz="3200" dirty="0">
                <a:solidFill>
                  <a:prstClr val="white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A</a:t>
            </a:r>
            <a:endParaRPr lang="zh-CN" altLang="en-US" sz="3200" dirty="0">
              <a:solidFill>
                <a:prstClr val="white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60" name="文本框 9"/>
          <p:cNvSpPr txBox="1"/>
          <p:nvPr/>
        </p:nvSpPr>
        <p:spPr>
          <a:xfrm>
            <a:off x="5173168" y="2218797"/>
            <a:ext cx="1258570" cy="427990"/>
          </a:xfrm>
          <a:prstGeom prst="rect">
            <a:avLst/>
          </a:prstGeom>
          <a:noFill/>
        </p:spPr>
        <p:txBody>
          <a:bodyPr wrap="none" lIns="121887" tIns="60943" rIns="121887" bIns="60943" rtlCol="0" anchor="ctr">
            <a:spAutoFit/>
          </a:bodyPr>
          <a:p>
            <a:pPr algn="ctr" defTabSz="1218565"/>
            <a:r>
              <a:rPr lang="zh-CN" altLang="en-US" sz="2000" dirty="0">
                <a:solidFill>
                  <a:schemeClr val="tx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复合度量</a:t>
            </a:r>
            <a:endParaRPr lang="zh-CN" altLang="en-US" sz="2000" dirty="0">
              <a:solidFill>
                <a:schemeClr val="tx1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61" name="文本框 9"/>
          <p:cNvSpPr txBox="1"/>
          <p:nvPr/>
        </p:nvSpPr>
        <p:spPr>
          <a:xfrm>
            <a:off x="7712504" y="4350195"/>
            <a:ext cx="1258570" cy="427990"/>
          </a:xfrm>
          <a:prstGeom prst="rect">
            <a:avLst/>
          </a:prstGeom>
          <a:noFill/>
        </p:spPr>
        <p:txBody>
          <a:bodyPr wrap="none" lIns="121887" tIns="60943" rIns="121887" bIns="60943" rtlCol="0" anchor="ctr">
            <a:spAutoFit/>
          </a:bodyPr>
          <a:p>
            <a:pPr algn="ctr" defTabSz="1218565"/>
            <a:r>
              <a:rPr lang="zh-CN" altLang="en-US" sz="2000" dirty="0">
                <a:solidFill>
                  <a:schemeClr val="tx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趋势度量</a:t>
            </a:r>
            <a:endParaRPr lang="zh-CN" altLang="en-US" sz="2000" dirty="0">
              <a:solidFill>
                <a:schemeClr val="tx1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260852" y="3805745"/>
            <a:ext cx="1556883" cy="155688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4">
                <a:lumMod val="75000"/>
              </a:schemeClr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7" tIns="60943" rIns="121887" bIns="60943" rtlCol="0" anchor="ctr"/>
          <a:p>
            <a:pPr algn="ctr" defTabSz="1218565"/>
            <a:endParaRPr lang="zh-CN" altLang="en-US" sz="2100">
              <a:solidFill>
                <a:prstClr val="white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8" name="文本框 9"/>
          <p:cNvSpPr txBox="1"/>
          <p:nvPr/>
        </p:nvSpPr>
        <p:spPr>
          <a:xfrm>
            <a:off x="2395014" y="4350195"/>
            <a:ext cx="1258570" cy="427990"/>
          </a:xfrm>
          <a:prstGeom prst="rect">
            <a:avLst/>
          </a:prstGeom>
          <a:noFill/>
        </p:spPr>
        <p:txBody>
          <a:bodyPr wrap="none" lIns="121887" tIns="60943" rIns="121887" bIns="60943" rtlCol="0" anchor="ctr">
            <a:spAutoFit/>
          </a:bodyPr>
          <a:p>
            <a:pPr algn="ctr" defTabSz="1218565"/>
            <a:r>
              <a:rPr lang="zh-CN" altLang="en-US" sz="2000" dirty="0">
                <a:solidFill>
                  <a:schemeClr val="tx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基础度量</a:t>
            </a:r>
            <a:endParaRPr lang="zh-CN" altLang="en-US" sz="2000" dirty="0">
              <a:solidFill>
                <a:schemeClr val="tx1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3817331" y="4571335"/>
            <a:ext cx="3645535" cy="0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文本框 12"/>
          <p:cNvSpPr txBox="1"/>
          <p:nvPr/>
        </p:nvSpPr>
        <p:spPr>
          <a:xfrm>
            <a:off x="354330" y="1753235"/>
            <a:ext cx="4114165" cy="188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OpenRank：衡量项目在开源生态网络中的影响力，由贡献者关系与影响力共同决定。</a:t>
            </a:r>
            <a:endParaRPr lang="zh-CN" altLang="en-US"/>
          </a:p>
          <a:p>
            <a:r>
              <a:rPr lang="zh-CN" altLang="en-US"/>
              <a:t>Activity：反映项目在提交、PR、Issue 等多维度上的整体活跃程度。</a:t>
            </a:r>
            <a:endParaRPr lang="zh-CN" altLang="en-US"/>
          </a:p>
          <a:p>
            <a:r>
              <a:rPr lang="zh-CN" altLang="en-US"/>
              <a:t>支持响应度：衡量项目对社区问题与贡献请求的响应速度与处理效率。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443355" y="5421630"/>
            <a:ext cx="8924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/>
              <a:t>Stars：表示项目获得的关注度，可视为社区对项目认可程度的简单信号。</a:t>
            </a:r>
            <a:endParaRPr lang="zh-CN" altLang="en-US"/>
          </a:p>
          <a:p>
            <a:r>
              <a:rPr lang="zh-CN" altLang="en-US"/>
              <a:t>Forks：代表开发者对项目进行二次开发或深入研究的意愿，体现技术传播度。</a:t>
            </a:r>
            <a:endParaRPr lang="zh-CN" altLang="en-US"/>
          </a:p>
          <a:p>
            <a:r>
              <a:rPr lang="zh-CN" altLang="en-US"/>
              <a:t>PR：反映外部贡献者提交代码改进的数量，是协作活跃度的关键指标。</a:t>
            </a:r>
            <a:endParaRPr lang="zh-CN" altLang="en-US"/>
          </a:p>
          <a:p>
            <a:r>
              <a:rPr lang="zh-CN" altLang="en-US"/>
              <a:t>Issues：记录用户反馈与待解决问题的数量，是项目维护压力和社区互动的重要窗口。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136765" y="1533525"/>
            <a:ext cx="46951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Arial" panose="020B0604020202090204"/>
                <a:ea typeface="微软雅黑"/>
                <a:cs typeface="Helvetica"/>
                <a:sym typeface="+mn-ea"/>
              </a:rPr>
              <a:t>长期增长：观察项目指标（如 star、贡献、活跃度）在较长时间尺度上的持续提升趋势。</a:t>
            </a:r>
            <a:endParaRPr lang="zh-CN" altLang="en-US" dirty="0">
              <a:latin typeface="Arial" panose="020B0604020202090204"/>
              <a:ea typeface="微软雅黑"/>
              <a:cs typeface="Helvetica"/>
              <a:sym typeface="+mn-ea"/>
            </a:endParaRPr>
          </a:p>
          <a:p>
            <a:endParaRPr lang="zh-CN" altLang="en-US" dirty="0">
              <a:latin typeface="Arial" panose="020B0604020202090204"/>
              <a:ea typeface="微软雅黑"/>
              <a:cs typeface="Helvetica"/>
              <a:sym typeface="+mn-ea"/>
            </a:endParaRPr>
          </a:p>
          <a:p>
            <a:r>
              <a:rPr lang="zh-CN" altLang="en-US" dirty="0">
                <a:latin typeface="Arial" panose="020B0604020202090204"/>
                <a:ea typeface="微软雅黑"/>
                <a:cs typeface="Helvetica"/>
                <a:sym typeface="+mn-ea"/>
              </a:rPr>
              <a:t>异常点：识别某个时间段内数据出现突增或突降的特殊变化，用于发现事件驱动的影响。</a:t>
            </a:r>
            <a:endParaRPr lang="zh-CN" altLang="en-US" dirty="0">
              <a:latin typeface="Arial" panose="020B0604020202090204"/>
              <a:ea typeface="微软雅黑"/>
              <a:cs typeface="Helvetica"/>
              <a:sym typeface="+mn-ea"/>
            </a:endParaRPr>
          </a:p>
          <a:p>
            <a:endParaRPr lang="zh-CN" altLang="en-US" dirty="0">
              <a:latin typeface="Arial" panose="020B0604020202090204"/>
              <a:ea typeface="微软雅黑"/>
              <a:cs typeface="Helvetica"/>
              <a:sym typeface="+mn-ea"/>
            </a:endParaRPr>
          </a:p>
          <a:p>
            <a:r>
              <a:rPr lang="zh-CN" altLang="en-US" dirty="0">
                <a:latin typeface="Arial" panose="020B0604020202090204"/>
                <a:ea typeface="微软雅黑"/>
                <a:cs typeface="Helvetica"/>
                <a:sym typeface="+mn-ea"/>
              </a:rPr>
              <a:t>周期变化：捕捉项目在周、月、季度等维度上重复出现的规律性波动，反映社区的节奏特征。</a:t>
            </a:r>
            <a:endParaRPr lang="zh-CN" altLang="en-US" dirty="0">
              <a:latin typeface="Arial" panose="020B0604020202090204"/>
              <a:ea typeface="微软雅黑"/>
              <a:cs typeface="Helvetic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2" grpId="0" bldLvl="0" animBg="1"/>
      <p:bldP spid="5" grpId="0" bldLvl="0" animBg="1"/>
      <p:bldP spid="47" grpId="0"/>
      <p:bldP spid="49" grpId="0"/>
      <p:bldP spid="51" grpId="0"/>
      <p:bldP spid="59" grpId="0"/>
      <p:bldP spid="60" grpId="0"/>
      <p:bldP spid="61" grpId="0"/>
      <p:bldP spid="7" grpId="0" bldLvl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增强机制</a:t>
            </a:r>
            <a:r>
              <a:rPr lang="en-US" altLang="zh-CN" b="1"/>
              <a:t>：</a:t>
            </a:r>
            <a:r>
              <a:rPr lang="zh-CN" altLang="en-US" b="1"/>
              <a:t>检索增强</a:t>
            </a:r>
            <a:r>
              <a:rPr lang="en-US" altLang="zh-CN" b="1"/>
              <a:t>（RAG）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861060" y="3429000"/>
            <a:ext cx="9989185" cy="2498090"/>
          </a:xfrm>
          <a:prstGeom prst="rect">
            <a:avLst/>
          </a:prstGeom>
        </p:spPr>
        <p:txBody>
          <a:bodyPr>
            <a:noAutofit/>
          </a:bodyPr>
          <a:p>
            <a:pPr indent="0">
              <a:buNone/>
            </a:pPr>
            <a:r>
              <a:rPr lang="zh-CN" altLang="en-US" sz="2800" b="1"/>
              <a:t>基础指标库</a:t>
            </a:r>
            <a:r>
              <a:rPr lang="zh-CN" altLang="en-US" sz="2800"/>
              <a:t>：</a:t>
            </a:r>
            <a:r>
              <a:rPr lang="en-US" altLang="zh-CN" sz="2800"/>
              <a:t>Stars</a:t>
            </a:r>
            <a:r>
              <a:rPr lang="zh-CN" altLang="en-US" sz="2800"/>
              <a:t>、</a:t>
            </a:r>
            <a:r>
              <a:rPr lang="en-US" altLang="zh-CN" sz="2800"/>
              <a:t>Forks</a:t>
            </a:r>
            <a:r>
              <a:rPr lang="zh-CN" altLang="en-US" sz="2800"/>
              <a:t>、</a:t>
            </a:r>
            <a:r>
              <a:rPr lang="en-US" altLang="zh-CN" sz="2800"/>
              <a:t>Commits </a:t>
            </a:r>
            <a:r>
              <a:rPr lang="zh-CN" altLang="en-US" sz="2800"/>
              <a:t>等定义 </a:t>
            </a:r>
            <a:r>
              <a:rPr lang="en-US" altLang="zh-CN" sz="2800"/>
              <a:t>+ </a:t>
            </a:r>
            <a:r>
              <a:rPr lang="zh-CN" altLang="en-US" sz="2800"/>
              <a:t>正确解读方式</a:t>
            </a:r>
            <a:endParaRPr lang="zh-CN" altLang="en-US" sz="2800"/>
          </a:p>
          <a:p>
            <a:pPr indent="0">
              <a:buNone/>
            </a:pPr>
            <a:r>
              <a:rPr lang="zh-CN" altLang="en-US" sz="2800" b="1"/>
              <a:t>复合指标库</a:t>
            </a:r>
            <a:r>
              <a:rPr lang="zh-CN" altLang="en-US" sz="2800"/>
              <a:t>：活动度、保留率、集中度的计算方法与示例</a:t>
            </a:r>
            <a:endParaRPr lang="zh-CN" altLang="en-US" sz="2800"/>
          </a:p>
          <a:p>
            <a:pPr indent="0">
              <a:buNone/>
            </a:pPr>
            <a:r>
              <a:rPr lang="zh-CN" altLang="en-US" sz="2800" b="1"/>
              <a:t>趋势指标库</a:t>
            </a:r>
            <a:r>
              <a:rPr lang="zh-CN" altLang="en-US" sz="2800"/>
              <a:t>：长期增长、峰值、异常点的判定与规范表述</a:t>
            </a:r>
            <a:endParaRPr lang="zh-CN" altLang="en-US" sz="2800"/>
          </a:p>
          <a:p>
            <a:pPr indent="0">
              <a:buNone/>
            </a:pPr>
            <a:r>
              <a:rPr lang="zh-CN" altLang="en-US" sz="2800" b="1"/>
              <a:t>模板库</a:t>
            </a:r>
            <a:r>
              <a:rPr lang="zh-CN" altLang="en-US" sz="2800"/>
              <a:t>：各指标对应的标准解释句式</a:t>
            </a:r>
            <a:endParaRPr lang="zh-CN" altLang="en-US" sz="2800"/>
          </a:p>
          <a:p>
            <a:pPr indent="0">
              <a:buNone/>
            </a:pPr>
            <a:r>
              <a:rPr lang="zh-CN" altLang="en-US" sz="2800" b="1"/>
              <a:t>反幻觉规则</a:t>
            </a:r>
            <a:r>
              <a:rPr lang="zh-CN" altLang="en-US" sz="2800"/>
              <a:t>：禁止因果推断、保持中性描述、避免外部事件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572135" y="1657985"/>
            <a:ext cx="1017524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 sz="2800"/>
              <a:t>   </a:t>
            </a:r>
            <a:r>
              <a:rPr lang="zh-CN" altLang="en-US" sz="2800"/>
              <a:t>为了让模型在生成解释时更加可靠、可控，系统构建了一个面向开源分析的专用知识库，并在生成阶段通过 RAG 进行实时检索与增强，使输出始终依赖于真实、可信的数据与规则。</a:t>
            </a:r>
            <a:endParaRPr lang="zh-CN" altLang="en-US" sz="28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>
                <a:sym typeface="+mn-ea"/>
              </a:rPr>
              <a:t>架构</a:t>
            </a:r>
            <a:r>
              <a:rPr lang="en-US" altLang="zh-CN" b="1">
                <a:sym typeface="+mn-ea"/>
              </a:rPr>
              <a:t>：</a:t>
            </a:r>
            <a:r>
              <a:rPr lang="zh-CN" altLang="en-US" b="1">
                <a:sym typeface="+mn-ea"/>
              </a:rPr>
              <a:t>轻量级模型实现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647700" y="1378585"/>
            <a:ext cx="11028680" cy="4593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  <a:p>
            <a:r>
              <a:rPr lang="zh-CN" altLang="en-US" sz="2400"/>
              <a:t>OpenChartInsight 并不依赖昂贵的超大模型，而是基于轻量级模型</a:t>
            </a:r>
            <a:r>
              <a:rPr lang="en-US" altLang="zh-CN" sz="2400"/>
              <a:t>（</a:t>
            </a:r>
            <a:r>
              <a:rPr lang="zh-CN" altLang="en-US" sz="2400" b="1"/>
              <a:t>Flan-T5</a:t>
            </a:r>
            <a:r>
              <a:rPr lang="en-US" altLang="zh-CN" sz="2400"/>
              <a:t>）</a:t>
            </a:r>
            <a:r>
              <a:rPr lang="zh-CN" altLang="en-US" sz="2400"/>
              <a:t>构建。</a:t>
            </a:r>
            <a:endParaRPr lang="zh-CN" altLang="en-US" sz="2400"/>
          </a:p>
          <a:p>
            <a:endParaRPr lang="zh-CN" altLang="en-US" sz="2400"/>
          </a:p>
          <a:p>
            <a:pPr indent="457200"/>
            <a:r>
              <a:rPr lang="zh-CN" altLang="en-US" sz="2400" b="1"/>
              <a:t>轻量级</a:t>
            </a:r>
            <a:r>
              <a:rPr lang="zh-CN" altLang="en-US" sz="2400"/>
              <a:t>：参数量远低于 GPT 类模型</a:t>
            </a:r>
            <a:endParaRPr lang="zh-CN" altLang="en-US" sz="2400"/>
          </a:p>
          <a:p>
            <a:pPr indent="457200"/>
            <a:r>
              <a:rPr lang="zh-CN" altLang="en-US" sz="2400" b="1"/>
              <a:t>训练高效</a:t>
            </a:r>
            <a:r>
              <a:rPr lang="zh-CN" altLang="en-US" sz="2400"/>
              <a:t>：适合在有限 GPU 条件下微调</a:t>
            </a:r>
            <a:endParaRPr lang="zh-CN" altLang="en-US" sz="2400"/>
          </a:p>
          <a:p>
            <a:pPr indent="457200"/>
            <a:r>
              <a:rPr lang="zh-CN" altLang="en-US" sz="2400" b="1"/>
              <a:t>推理快速</a:t>
            </a:r>
            <a:r>
              <a:rPr lang="zh-CN" altLang="en-US" sz="2400"/>
              <a:t>：能满足交互式可视化系统的实时需求</a:t>
            </a:r>
            <a:endParaRPr lang="zh-CN" altLang="en-US" sz="2400"/>
          </a:p>
          <a:p>
            <a:pPr indent="457200"/>
            <a:r>
              <a:rPr lang="zh-CN" altLang="en-US" sz="2400" b="1"/>
              <a:t>开源可控</a:t>
            </a:r>
            <a:r>
              <a:rPr lang="zh-CN" altLang="en-US" sz="2400"/>
              <a:t>：易于本地部署与定制化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这使得框架具有更高的实用性和部署灵活性，能够快速响应并集成到现有的可视化工具中，而无需庞大的算力支持。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增强机制</a:t>
            </a:r>
            <a:r>
              <a:rPr lang="en-US" altLang="zh-CN" b="1"/>
              <a:t>：</a:t>
            </a:r>
            <a:r>
              <a:rPr lang="zh-CN" altLang="en-US" b="1"/>
              <a:t>自我反思</a:t>
            </a:r>
            <a:r>
              <a:rPr lang="en-US" altLang="zh-CN" b="1"/>
              <a:t>（</a:t>
            </a:r>
            <a:r>
              <a:rPr lang="en-US" altLang="zh-CN" b="1"/>
              <a:t>Self-Reflection）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882015" y="1584325"/>
            <a:ext cx="7127240" cy="4928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/>
              <a:t>减少“幻觉”的关键</a:t>
            </a:r>
            <a:endParaRPr lang="zh-CN" altLang="en-US" sz="3200" b="1"/>
          </a:p>
          <a:p>
            <a:endParaRPr lang="zh-CN" altLang="en-US"/>
          </a:p>
          <a:p>
            <a:r>
              <a:rPr lang="zh-CN" altLang="en-US" sz="2400"/>
              <a:t>为了确保生成内容与底层数据严格一致，框架引入了</a:t>
            </a:r>
            <a:r>
              <a:rPr lang="zh-CN" altLang="en-US" sz="2400" b="1"/>
              <a:t>自我反思机制</a:t>
            </a:r>
            <a:r>
              <a:rPr lang="zh-CN" altLang="en-US" sz="2400"/>
              <a:t>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模型会在输出前进行自我检查:</a:t>
            </a:r>
            <a:endParaRPr lang="zh-CN" altLang="en-US" sz="2400"/>
          </a:p>
          <a:p>
            <a:endParaRPr lang="zh-CN" altLang="en-US" sz="2400"/>
          </a:p>
          <a:p>
            <a:pPr indent="457200"/>
            <a:r>
              <a:rPr lang="zh-CN" altLang="en-US" sz="2400"/>
              <a:t>生成的数字是否与图表一致?</a:t>
            </a:r>
            <a:endParaRPr lang="zh-CN" altLang="en-US" sz="2400"/>
          </a:p>
          <a:p>
            <a:pPr indent="457200"/>
            <a:r>
              <a:rPr lang="zh-CN" altLang="en-US" sz="2400"/>
              <a:t>描述的趋势是否真实存在?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如果不一致，模型会进行自我修正。</a:t>
            </a:r>
            <a:endParaRPr lang="zh-CN" altLang="en-US" sz="2400"/>
          </a:p>
        </p:txBody>
      </p:sp>
      <p:pic>
        <p:nvPicPr>
          <p:cNvPr id="4" name="图片 3" descr="对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110" y="4249420"/>
            <a:ext cx="321945" cy="321945"/>
          </a:xfrm>
          <a:prstGeom prst="rect">
            <a:avLst/>
          </a:prstGeom>
        </p:spPr>
      </p:pic>
      <p:pic>
        <p:nvPicPr>
          <p:cNvPr id="5" name="图片 4" descr="对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110" y="4646930"/>
            <a:ext cx="321945" cy="321945"/>
          </a:xfrm>
          <a:prstGeom prst="rect">
            <a:avLst/>
          </a:prstGeom>
        </p:spPr>
      </p:pic>
      <p:sp>
        <p:nvSpPr>
          <p:cNvPr id="8" name="流程图: 可选过程 7"/>
          <p:cNvSpPr/>
          <p:nvPr/>
        </p:nvSpPr>
        <p:spPr>
          <a:xfrm>
            <a:off x="8131175" y="1584325"/>
            <a:ext cx="2635250" cy="8832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初稿生成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流程图: 可选过程 8"/>
          <p:cNvSpPr/>
          <p:nvPr>
            <p:custDataLst>
              <p:tags r:id="rId5"/>
            </p:custDataLst>
          </p:nvPr>
        </p:nvSpPr>
        <p:spPr>
          <a:xfrm>
            <a:off x="7433945" y="3050540"/>
            <a:ext cx="4030345" cy="1659890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zh-CN" altLang="en-US" sz="2400">
                <a:solidFill>
                  <a:schemeClr val="tx1"/>
                </a:solidFill>
              </a:rPr>
              <a:t>自我检查</a:t>
            </a:r>
            <a:r>
              <a:rPr lang="en-US" altLang="zh-CN" sz="2400">
                <a:solidFill>
                  <a:schemeClr val="tx1"/>
                </a:solidFill>
              </a:rPr>
              <a:t>（</a:t>
            </a:r>
            <a:r>
              <a:rPr lang="en-US" altLang="zh-CN" sz="2400">
                <a:solidFill>
                  <a:schemeClr val="tx1"/>
                </a:solidFill>
              </a:rPr>
              <a:t>Self-Reflection）</a:t>
            </a:r>
            <a:endParaRPr lang="en-US" altLang="zh-CN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数字是否与图一致</a:t>
            </a:r>
            <a:r>
              <a:rPr lang="en-US" altLang="zh-CN" sz="2400">
                <a:solidFill>
                  <a:schemeClr val="tx1"/>
                </a:solidFill>
              </a:rPr>
              <a:t>？</a:t>
            </a:r>
            <a:endParaRPr lang="en-US" altLang="zh-CN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趋势是否真实存在</a:t>
            </a:r>
            <a:r>
              <a:rPr lang="en-US" altLang="zh-CN" sz="2400">
                <a:solidFill>
                  <a:schemeClr val="tx1"/>
                </a:solidFill>
              </a:rPr>
              <a:t>？</a:t>
            </a:r>
            <a:endParaRPr lang="en-US" altLang="zh-CN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是否出现因果推断</a:t>
            </a:r>
            <a:r>
              <a:rPr lang="en-US" altLang="zh-CN" sz="2400">
                <a:solidFill>
                  <a:schemeClr val="tx1"/>
                </a:solidFill>
              </a:rPr>
              <a:t>？</a:t>
            </a:r>
            <a:endParaRPr lang="en-US" altLang="zh-CN" sz="2400">
              <a:solidFill>
                <a:schemeClr val="tx1"/>
              </a:solidFill>
            </a:endParaRPr>
          </a:p>
          <a:p>
            <a:pPr algn="ctr"/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0" name="流程图: 可选过程 9"/>
          <p:cNvSpPr/>
          <p:nvPr>
            <p:custDataLst>
              <p:tags r:id="rId6"/>
            </p:custDataLst>
          </p:nvPr>
        </p:nvSpPr>
        <p:spPr>
          <a:xfrm>
            <a:off x="8131175" y="5434330"/>
            <a:ext cx="2635250" cy="8832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修正后</a:t>
            </a:r>
            <a:r>
              <a:rPr lang="zh-CN" altLang="en-US" sz="2400">
                <a:solidFill>
                  <a:schemeClr val="tx1"/>
                </a:solidFill>
              </a:rPr>
              <a:t>输出</a:t>
            </a: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>
            <a:stCxn id="8" idx="2"/>
            <a:endCxn id="9" idx="0"/>
          </p:cNvCxnSpPr>
          <p:nvPr/>
        </p:nvCxnSpPr>
        <p:spPr>
          <a:xfrm>
            <a:off x="9448800" y="2467610"/>
            <a:ext cx="635" cy="582930"/>
          </a:xfrm>
          <a:prstGeom prst="straightConnector1">
            <a:avLst/>
          </a:prstGeom>
          <a:ln w="38100" cap="flat" cmpd="sng">
            <a:solidFill>
              <a:schemeClr val="accent4">
                <a:lumMod val="75000"/>
              </a:schemeClr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9" idx="2"/>
            <a:endCxn id="10" idx="0"/>
          </p:cNvCxnSpPr>
          <p:nvPr>
            <p:custDataLst>
              <p:tags r:id="rId7"/>
            </p:custDataLst>
          </p:nvPr>
        </p:nvCxnSpPr>
        <p:spPr>
          <a:xfrm flipH="1">
            <a:off x="9448800" y="4710430"/>
            <a:ext cx="635" cy="723900"/>
          </a:xfrm>
          <a:prstGeom prst="straightConnector1">
            <a:avLst/>
          </a:prstGeom>
          <a:ln w="38100" cap="flat" cmpd="sng">
            <a:solidFill>
              <a:schemeClr val="accent4">
                <a:lumMod val="75000"/>
              </a:schemeClr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自动化评估</a:t>
            </a:r>
            <a:r>
              <a:rPr lang="zh-CN" altLang="en-US" b="1"/>
              <a:t>管线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412750" y="2104390"/>
            <a:ext cx="5796280" cy="3931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/>
            <a:r>
              <a:rPr lang="en-US" altLang="zh-CN" sz="3200"/>
              <a:t>  </a:t>
            </a:r>
            <a:r>
              <a:rPr lang="zh-CN" altLang="en-US" sz="2800"/>
              <a:t> 我们设计了一条紧凑的评估流程，通过多模块协同检查，为模型生成质量提供全局视角。各模块得分会经过归一化处理，再汇总为统一的综合质量分数，实现无需人工标注的系统化质量评估。</a:t>
            </a:r>
            <a:endParaRPr lang="zh-CN" altLang="en-US" sz="2800"/>
          </a:p>
        </p:txBody>
      </p:sp>
      <p:sp>
        <p:nvSpPr>
          <p:cNvPr id="2" name="椭圆 1"/>
          <p:cNvSpPr/>
          <p:nvPr/>
        </p:nvSpPr>
        <p:spPr>
          <a:xfrm>
            <a:off x="6209030" y="877570"/>
            <a:ext cx="1602105" cy="164528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执行准确性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9561195" y="877570"/>
            <a:ext cx="1602105" cy="164528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事实一致性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209030" y="4123055"/>
            <a:ext cx="1602105" cy="164528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忠实一致性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9688830" y="4123055"/>
            <a:ext cx="1602105" cy="164528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流畅度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7682865" y="2264410"/>
            <a:ext cx="2005965" cy="205041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综合得分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2" idx="5"/>
            <a:endCxn id="7" idx="1"/>
          </p:cNvCxnSpPr>
          <p:nvPr/>
        </p:nvCxnSpPr>
        <p:spPr>
          <a:xfrm>
            <a:off x="7576820" y="2282190"/>
            <a:ext cx="400050" cy="282575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5" idx="7"/>
            <a:endCxn id="7" idx="3"/>
          </p:cNvCxnSpPr>
          <p:nvPr/>
        </p:nvCxnSpPr>
        <p:spPr>
          <a:xfrm flipV="1">
            <a:off x="7576820" y="4014470"/>
            <a:ext cx="400050" cy="34925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6" idx="1"/>
            <a:endCxn id="7" idx="5"/>
          </p:cNvCxnSpPr>
          <p:nvPr/>
        </p:nvCxnSpPr>
        <p:spPr>
          <a:xfrm flipH="1" flipV="1">
            <a:off x="9394825" y="4014470"/>
            <a:ext cx="528320" cy="34925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3"/>
            <a:endCxn id="7" idx="7"/>
          </p:cNvCxnSpPr>
          <p:nvPr/>
        </p:nvCxnSpPr>
        <p:spPr>
          <a:xfrm flipH="1">
            <a:off x="9394825" y="2282190"/>
            <a:ext cx="400685" cy="282575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功能实现及演示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3200">
                <a:sym typeface="+mn-ea"/>
              </a:rPr>
              <a:t>开源深度洞察</a:t>
            </a:r>
            <a:endParaRPr lang="zh-CN" altLang="en-US" sz="32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71500" y="1859915"/>
            <a:ext cx="4049395" cy="4249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>
              <a:buClrTx/>
              <a:buSzTx/>
              <a:buNone/>
            </a:pPr>
            <a:r>
              <a:rPr lang="en-US" altLang="zh-CN" sz="2000"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用户访问活跃的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 gitee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项目仓库或开发者页面时，可以通过鼠标悬停或点击相应元素，获取不同指标的多种形式的可视化展示，包括条形图、折线图、图形图和动态图表等。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此外，当鼠标悬停在某位开发者的头像或姓名上时，在开发者信息弹窗中新增了OpenRank值的显示。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2" name="图片 8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45990" y="942340"/>
            <a:ext cx="6220460" cy="547116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图表</a:t>
            </a:r>
            <a:r>
              <a:rPr lang="zh-CN" altLang="en-US"/>
              <a:t>解读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-21474825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87800" y="1549400"/>
            <a:ext cx="7694295" cy="444309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" name="文本框 2"/>
          <p:cNvSpPr txBox="1"/>
          <p:nvPr/>
        </p:nvSpPr>
        <p:spPr>
          <a:xfrm>
            <a:off x="321310" y="1412875"/>
            <a:ext cx="3666490" cy="5386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000">
                <a:latin typeface="微软雅黑" charset="0"/>
                <a:ea typeface="微软雅黑" charset="0"/>
              </a:rPr>
              <a:t>融合大语言模型与指标语义模板，对开源仓库关键指标的变化趋势进行自动分析与自然语言解释。系统在获取指标时间序列后，对不同阶段进行对比分析，识别显著趋势变化与异常波动，并结合语义模板生成可解释的文本洞察。生成结果能够反映指标变化的方向、幅度及上下文含义，将图表数据自动转化为易理解的语义结论。相比传统静态可视化，该功能实现了从数据到洞察的自动化跃迁，显著降低理解成本，提升开源项目分析的解释性与决策支持能力。</a:t>
            </a:r>
            <a:endParaRPr lang="zh-CN" altLang="en-US" sz="2000">
              <a:latin typeface="微软雅黑" charset="0"/>
              <a:ea typeface="微软雅黑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智能</a:t>
            </a:r>
            <a:r>
              <a:rPr lang="zh-CN" altLang="en-US"/>
              <a:t>报表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53695" y="1420495"/>
            <a:ext cx="4228465" cy="4430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>
              <a:buClrTx/>
              <a:buSzTx/>
              <a:buNone/>
            </a:pPr>
            <a:r>
              <a:rPr lang="zh-CN" altLang="en-US" sz="2000">
                <a:latin typeface="微软雅黑" charset="0"/>
                <a:ea typeface="微软雅黑" charset="0"/>
                <a:sym typeface="+mn-ea"/>
              </a:rPr>
              <a:t>系统在用户点击“生成项目报告”后,会自动提取指定周期的核心指标，如活跃度、OpenRank、Star 增长率、Fork 数、贡献者数、PR合并率等，并调用 LLM 进行语义分析与自然语言生成,生成包含“指标总览—趋势可视化—AI解读—改进建议”的完整报告。</a:t>
            </a:r>
            <a:endParaRPr lang="zh-CN" altLang="en-US" sz="2000">
              <a:latin typeface="微软雅黑" charset="0"/>
              <a:ea typeface="微软雅黑" charset="0"/>
              <a:sym typeface="+mn-ea"/>
            </a:endParaRPr>
          </a:p>
          <a:p>
            <a:pPr indent="457200">
              <a:buClrTx/>
              <a:buSzTx/>
              <a:buNone/>
            </a:pPr>
            <a:r>
              <a:rPr lang="zh-CN" altLang="en-US" sz="2000">
                <a:latin typeface="微软雅黑" charset="0"/>
                <a:ea typeface="微软雅黑" charset="0"/>
                <a:sym typeface="+mn-ea"/>
              </a:rPr>
              <a:t>生成的报告以Markdown形式呈现</a:t>
            </a:r>
            <a:r>
              <a:rPr lang="en-US" altLang="zh-CN" sz="2000">
                <a:latin typeface="微软雅黑" charset="0"/>
                <a:ea typeface="微软雅黑" charset="0"/>
                <a:sym typeface="+mn-ea"/>
              </a:rPr>
              <a:t>，</a:t>
            </a:r>
            <a:r>
              <a:rPr lang="zh-CN" altLang="en-US" sz="2000">
                <a:latin typeface="微软雅黑" charset="0"/>
                <a:ea typeface="微软雅黑" charset="0"/>
                <a:sym typeface="+mn-ea"/>
              </a:rPr>
              <a:t>支持用户在侧边栏内直接修改、导出或分享到README与团队平台</a:t>
            </a:r>
            <a:r>
              <a:rPr lang="en-US" altLang="zh-CN" sz="2000">
                <a:latin typeface="微软雅黑" charset="0"/>
                <a:ea typeface="微软雅黑" charset="0"/>
                <a:sym typeface="+mn-ea"/>
              </a:rPr>
              <a:t>。</a:t>
            </a:r>
            <a:r>
              <a:rPr lang="zh-CN" altLang="en-US" sz="2000">
                <a:latin typeface="微软雅黑" charset="0"/>
                <a:ea typeface="微软雅黑" charset="0"/>
                <a:sym typeface="+mn-ea"/>
              </a:rPr>
              <a:t>此功能显著提升了开源项目的分析与汇报效率</a:t>
            </a:r>
            <a:r>
              <a:rPr lang="en-US" altLang="zh-CN" sz="2000">
                <a:latin typeface="微软雅黑" charset="0"/>
                <a:ea typeface="微软雅黑" charset="0"/>
                <a:sym typeface="+mn-ea"/>
              </a:rPr>
              <a:t>，</a:t>
            </a:r>
            <a:r>
              <a:rPr lang="zh-CN" altLang="en-US" sz="2000">
                <a:latin typeface="微软雅黑" charset="0"/>
                <a:ea typeface="微软雅黑" charset="0"/>
                <a:sym typeface="+mn-ea"/>
              </a:rPr>
              <a:t>实现了智能化的周期性运营报告生成</a:t>
            </a:r>
            <a:r>
              <a:rPr lang="en-US" altLang="zh-CN" sz="2000">
                <a:latin typeface="微软雅黑" charset="0"/>
                <a:ea typeface="微软雅黑" charset="0"/>
                <a:sym typeface="+mn-ea"/>
              </a:rPr>
              <a:t>。</a:t>
            </a:r>
            <a:endParaRPr lang="en-US" altLang="zh-CN" sz="2000"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2" name="图片 -214748252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98365" y="1420495"/>
            <a:ext cx="7066280" cy="43148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问答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65455" y="1272540"/>
            <a:ext cx="3818890" cy="5585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>
              <a:buClrTx/>
              <a:buSzTx/>
              <a:buNone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HyperCRX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-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InsightPilot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在指标自动解读的基础上，引入基于自然语言的交互式问答机制。用户可直接提出分析问题，系统将融合提交趋势、Issue 活跃度、PR 合并率等多维指标进行语义推理，生成面向原因分析与决策支持的解释性回答。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indent="457200">
              <a:buClrTx/>
              <a:buSzTx/>
              <a:buNone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该功能推动系统从传统的数据可视化工具升级为智能运营助手，实现从数据理解到行动建议的闭环。系统可根据问题上下文动态选择分析路径，整合历史趋势与社区行为模式，并在持续交互中逐步形成具备上下文感知能力的智能运营助理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2" name="图片 -21474825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45635" y="1491615"/>
            <a:ext cx="7392035" cy="42113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开源实践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开源</a:t>
            </a:r>
            <a:r>
              <a:rPr lang="zh-CN" altLang="en-US">
                <a:sym typeface="+mn-ea"/>
              </a:rPr>
              <a:t>实践</a:t>
            </a:r>
            <a:endParaRPr lang="zh-CN" altLang="en-US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75460" y="1374775"/>
            <a:ext cx="866203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本项目充分利用</a:t>
            </a:r>
            <a:r>
              <a:rPr lang="en-US" altLang="zh-CN"/>
              <a:t> GitHub </a:t>
            </a:r>
            <a:r>
              <a:rPr lang="zh-CN" altLang="en-US"/>
              <a:t>平台进行高效协作，贯穿项目开发的全流程，展现了开源实践的最佳实践。在具体实施中，预定义了多种</a:t>
            </a:r>
            <a:r>
              <a:rPr lang="en-US" altLang="zh-CN"/>
              <a:t> Issue </a:t>
            </a:r>
            <a:r>
              <a:rPr lang="zh-CN" altLang="en-US"/>
              <a:t>类型及其模板，为问题追踪和讨论提供了标准化和便捷性；同时，预设了</a:t>
            </a:r>
            <a:r>
              <a:rPr lang="en-US" altLang="zh-CN"/>
              <a:t> Pull Request</a:t>
            </a:r>
            <a:r>
              <a:rPr lang="zh-CN" altLang="en-US"/>
              <a:t>（</a:t>
            </a:r>
            <a:r>
              <a:rPr lang="en-US" altLang="zh-CN"/>
              <a:t>PR</a:t>
            </a:r>
            <a:r>
              <a:rPr lang="zh-CN" altLang="en-US"/>
              <a:t>）的贡献模板，确保代码提交流程的一致性和可读性。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通过这些实践，项目团队实现了高效的协作机制，降低了贡献门槛，鼓励社区成员积极参与。同时，标准化的模板设计使得问题反馈和代码贡献的流程更加清晰、规范，为项目的长期发展奠定了坚实的基础。这种基于</a:t>
            </a:r>
            <a:r>
              <a:rPr lang="en-US" altLang="zh-CN"/>
              <a:t> GitHub </a:t>
            </a:r>
            <a:r>
              <a:rPr lang="zh-CN" altLang="en-US"/>
              <a:t>平台的开放协作模式，不仅提升了团队的生产力，还体现了开源社区的协作精神</a:t>
            </a:r>
            <a:r>
              <a:rPr lang="en-US" altLang="zh-CN"/>
              <a:t>。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" y="4347845"/>
            <a:ext cx="4458335" cy="1028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810" y="4093845"/>
            <a:ext cx="4307840" cy="2158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640" y="3983990"/>
            <a:ext cx="2482850" cy="23787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谢谢</a:t>
            </a:r>
            <a:endParaRPr lang="en-US" altLang="zh-CN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X-Team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1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7"/>
</p:tagLst>
</file>

<file path=ppt/tags/tag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3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6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7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5"/>
</p:tagLst>
</file>

<file path=ppt/tags/tag8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01"/>
</p:tagLst>
</file>

<file path=ppt/tags/tag8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601"/>
</p:tagLst>
</file>

<file path=ppt/tags/tag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01"/>
  <p:tag name="KSO_WM_TEMPLATE_CATEGORY" val="custom"/>
  <p:tag name="KSO_WM_TEMPLATE_MASTER_TYPE" val="0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添加文档标题"/>
  <p:tag name="KSO_WM_UNIT_TEXT_TYPE" val="1"/>
</p:tagLst>
</file>

<file path=ppt/tags/tag92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01"/>
  <p:tag name="KSO_WM_TEMPLATE_CATEGORY" val="custom"/>
  <p:tag name="KSO_WM_SLIDE_INDEX" val="1"/>
  <p:tag name="KSO_WM_SLIDE_ID" val="custom20238601_1"/>
  <p:tag name="KSO_WM_TEMPLATE_MASTER_TYPE" val="0"/>
  <p:tag name="KSO_WM_SLIDE_LAYOUT" val="a_b_f"/>
  <p:tag name="KSO_WM_SLIDE_LAYOUT_CNT" val="1_1_1"/>
  <p:tag name="KSO_WM_SPECIAL_SOURCE" val="bdnull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SPECIAL_SOURCE" val="bdnull"/>
</p:tagLst>
</file>

<file path=ppt/tags/tag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8601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TEXT_FILL_FORE_SCHEMECOLOR_INDEX" val="13"/>
  <p:tag name="KSO_WM_UNIT_TEXT_FILL_TYPE" val="1"/>
  <p:tag name="KSO_WM_UNIT_USESOURCEFORMAT_APPLY" val="0"/>
</p:tagLst>
</file>

<file path=ppt/tags/tag99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0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1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2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3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4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5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6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7.xml><?xml version="1.0" encoding="utf-8"?>
<p:tagLst xmlns:p="http://schemas.openxmlformats.org/presentationml/2006/main">
  <p:tag name="KSO_WM_UNIT_TYPE" val="l_h_i"/>
  <p:tag name="KSO_WM_UNIT_SUBTYPE" val="d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8.xml><?xml version="1.0" encoding="utf-8"?>
<p:tagLst xmlns:p="http://schemas.openxmlformats.org/presentationml/2006/main">
  <p:tag name="KSO_WM_UNIT_TYPE" val="l_h_f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8601_6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10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6"/>
  <p:tag name="KSO_WM_DIAGRAM_GROUP_CODE" val="l1-1"/>
  <p:tag name="KSO_WM_BEAUTIFY_FLAG" val="#wm#"/>
  <p:tag name="KSO_WM_TEMPLATE_INDEX" val="20238601"/>
  <p:tag name="KSO_WM_TEMPLATE_CATEGORY" val="custom"/>
  <p:tag name="KSO_WM_SLIDE_INDEX" val="6"/>
  <p:tag name="KSO_WM_SLIDE_ID" val="custom20238601_6"/>
  <p:tag name="KSO_WM_TEMPLATE_MASTER_TYPE" val="0"/>
  <p:tag name="KSO_WM_SLIDE_LAYOUT" val="a_l"/>
  <p:tag name="KSO_WM_SLIDE_LAYOUT_CNT" val="1_1"/>
  <p:tag name="KSO_WM_SLIDE_DIAGTYPE" val="l"/>
  <p:tag name="KSO_WM_SPECIAL_SOURCE" val="bdnull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1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13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  <p:tag name="KSO_WM_SPECIAL_SOURCE" val="bdnull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SPECIAL_SOURCE" val="bdnull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SPECIAL_SOURCE" val="bdnull"/>
</p:tagLst>
</file>

<file path=ppt/tags/tag1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2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2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  <p:tag name="KSO_WM_SPECIAL_SOURCE" val="bdnull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SPECIAL_SOURCE" val="bdnull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SPECIAL_SOURCE" val="bdnull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SPECIAL_SOURCE" val="bdnull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SPECIAL_SOURCE" val="bdnull"/>
</p:tagLst>
</file>

<file path=ppt/tags/tag1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3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39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  <p:tag name="KSO_WM_SPECIAL_SOURCE" val="bdnull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TABLE_ENDDRAG_ORIGIN_RECT" val="452*86"/>
  <p:tag name="TABLE_ENDDRAG_RECT" val="229*278*452*86"/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SPECIAL_SOURCE" val="bdnull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SPECIAL_SOURCE" val="bdnull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53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29.861*365.65"/>
  <p:tag name="KSO_WM_SLIDE_POSITION" val="78.5387*108.23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601"/>
  <p:tag name="KSO_WM_TEMPLATE_SUBCATEGORY" val="0"/>
  <p:tag name="KSO_WM_SLIDE_INDEX" val="1"/>
  <p:tag name="KSO_WM_TAG_VERSION" val="3.0"/>
  <p:tag name="KSO_WM_SLIDE_ID" val="custom20231717_1"/>
  <p:tag name="KSO_WM_SLIDE_ITEM_CNT" val="4"/>
  <p:tag name="resource_record_key" val="{&quot;10&quot;:[50046314,21564113],&quot;19&quot;:[20344228],&quot;65&quot;:[20238601],&quot;70&quot;:[3322085]}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SPECIAL_SOURCE" val="bdnull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TEMPLATE_CATEGORY" val="custom"/>
  <p:tag name="KSO_WM_UNIT_LAYERLEVEL" val="1"/>
  <p:tag name="KSO_WM_TAG_VERSION" val="3.0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72.xml><?xml version="1.0" encoding="utf-8"?>
<p:tagLst xmlns:p="http://schemas.openxmlformats.org/presentationml/2006/main">
  <p:tag name="KSO_WM_SPECIAL_SOURCE" val="bdnull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74.xml><?xml version="1.0" encoding="utf-8"?>
<p:tagLst xmlns:p="http://schemas.openxmlformats.org/presentationml/2006/main">
  <p:tag name="KSO_WM_SPECIAL_SOURCE" val="bdnull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76.xml><?xml version="1.0" encoding="utf-8"?>
<p:tagLst xmlns:p="http://schemas.openxmlformats.org/presentationml/2006/main">
  <p:tag name="KSO_WM_SPECIAL_SOURCE" val="bdnull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SPECIAL_SOURCE" val="bdnull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SPECIAL_SOURCE" val="bdnull"/>
</p:tagLst>
</file>

<file path=ppt/tags/tag1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90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91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  <p:tag name="KSO_WM_SPECIAL_SOURCE" val="bdnull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SLIDE_ID" val="diagram2023318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743.886*334.609"/>
  <p:tag name="KSO_WM_SLIDE_POSITION" val="108.05*145.01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SLIDE_ID" val="diagram2023318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743.886*334.609"/>
  <p:tag name="KSO_WM_SLIDE_POSITION" val="108.05*145.01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SLIDE_ID" val="diagram2023318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743.886*334.609"/>
  <p:tag name="KSO_WM_SLIDE_POSITION" val="108.05*145.01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SLIDE_ID" val="diagram2023318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743.886*334.609"/>
  <p:tag name="KSO_WM_SLIDE_POSITION" val="108.05*145.01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20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206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  <p:tag name="KSO_WM_SPECIAL_SOURCE" val="bdnull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7_2*a*1"/>
  <p:tag name="KSO_WM_TEMPLATE_CATEGORY" val="diagram"/>
  <p:tag name="KSO_WM_TEMPLATE_INDEX" val="2023333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08.xml><?xml version="1.0" encoding="utf-8"?>
<p:tagLst xmlns:p="http://schemas.openxmlformats.org/presentationml/2006/main">
  <p:tag name="KSO_WM_SLIDE_ID" val="diagram20233337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850.483*348.597"/>
  <p:tag name="KSO_WM_SLIDE_POSITION" val="54.8*141.87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</p:tagLst>
</file>

<file path=ppt/tags/tag21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01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211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9"/>
  <p:tag name="KSO_WM_SLIDE_ID" val="custom20238601_9"/>
  <p:tag name="KSO_WM_TEMPLATE_MASTER_TYPE" val="0"/>
  <p:tag name="KSO_WM_SLIDE_LAYOUT" val="a_b_f"/>
  <p:tag name="KSO_WM_SLIDE_LAYOUT_CNT" val="1_1_1"/>
  <p:tag name="KSO_WM_SPECIAL_SOURCE" val="bdnull"/>
</p:tagLst>
</file>

<file path=ppt/tags/tag212.xml><?xml version="1.0" encoding="utf-8"?>
<p:tagLst xmlns:p="http://schemas.openxmlformats.org/presentationml/2006/main">
  <p:tag name="resource_record_key" val="{&quot;10&quot;:[3504332,4589017,50046314,21564113],&quot;19&quot;:[20344228],&quot;65&quot;:[20238601],&quot;70&quot;:[3314141,3322085]}"/>
  <p:tag name="commondata" val="eyJoZGlkIjoiNmI3YzA4M2ZhNTIwMDhlZDU0MmQ4NDg5MGE0Yjgw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5006</Words>
  <Application>WPS 演示</Application>
  <PresentationFormat>宽屏</PresentationFormat>
  <Paragraphs>274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53" baseType="lpstr">
      <vt:lpstr>Arial</vt:lpstr>
      <vt:lpstr>宋体</vt:lpstr>
      <vt:lpstr>Wingdings</vt:lpstr>
      <vt:lpstr>方正姚体</vt:lpstr>
      <vt:lpstr>Times New Roman</vt:lpstr>
      <vt:lpstr>宋体-简</vt:lpstr>
      <vt:lpstr>Arial Bold</vt:lpstr>
      <vt:lpstr>Songti SC Bold</vt:lpstr>
      <vt:lpstr>思源黑体 CN Normal</vt:lpstr>
      <vt:lpstr>汉仪中黑KW</vt:lpstr>
      <vt:lpstr>微软雅黑</vt:lpstr>
      <vt:lpstr>汉仪旗黑</vt:lpstr>
      <vt:lpstr>微软雅黑</vt:lpstr>
      <vt:lpstr>宋体</vt:lpstr>
      <vt:lpstr>Arial Unicode MS</vt:lpstr>
      <vt:lpstr>汉仪书宋二KW</vt:lpstr>
      <vt:lpstr>方正黑体简体</vt:lpstr>
      <vt:lpstr>Arial</vt:lpstr>
      <vt:lpstr>微软雅黑</vt:lpstr>
      <vt:lpstr>Helvetica</vt:lpstr>
      <vt:lpstr>Calibri</vt:lpstr>
      <vt:lpstr>Helvetica Neue</vt:lpstr>
      <vt:lpstr>WPS</vt:lpstr>
      <vt:lpstr>简约风线框职场办公</vt:lpstr>
      <vt:lpstr>HyperCRX-InsightPilot： 面向开源项目的智能洞察与决策辅助系统</vt:lpstr>
      <vt:lpstr>背景：GitHub可视化分析现状</vt:lpstr>
      <vt:lpstr>目录</vt:lpstr>
      <vt:lpstr>背景意义</vt:lpstr>
      <vt:lpstr>背景：GitHub可视化分析现状</vt:lpstr>
      <vt:lpstr>痛点：缺乏解释性</vt:lpstr>
      <vt:lpstr>项目概述</vt:lpstr>
      <vt:lpstr>HyperCRX-InsightPilot 整体方案</vt:lpstr>
      <vt:lpstr>HyperCRX-InsightPilot 核心功能</vt:lpstr>
      <vt:lpstr>从“指标展示”到“语义理解”的转变</vt:lpstr>
      <vt:lpstr>智能交互与可信生成机制</vt:lpstr>
      <vt:lpstr>技术框架及重难点</vt:lpstr>
      <vt:lpstr>数据机制</vt:lpstr>
      <vt:lpstr>功能注入，按需加载</vt:lpstr>
      <vt:lpstr>功能注入，按需加载</vt:lpstr>
      <vt:lpstr>AI系统总体架构</vt:lpstr>
      <vt:lpstr>开放式分层指标结构</vt:lpstr>
      <vt:lpstr>增强机制：检索增强（RAG）</vt:lpstr>
      <vt:lpstr>架构：轻量级模型实现</vt:lpstr>
      <vt:lpstr>增强机制：自我反思（Self-Reflection）</vt:lpstr>
      <vt:lpstr>自动化评估管线</vt:lpstr>
      <vt:lpstr>功能实现及演示</vt:lpstr>
      <vt:lpstr>开源深度洞察</vt:lpstr>
      <vt:lpstr>图表解读</vt:lpstr>
      <vt:lpstr>智能报表</vt:lpstr>
      <vt:lpstr>问答功能</vt:lpstr>
      <vt:lpstr>开源实践</vt:lpstr>
      <vt:lpstr>开源实践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谢思怡</cp:lastModifiedBy>
  <cp:revision>151</cp:revision>
  <dcterms:created xsi:type="dcterms:W3CDTF">2026-01-13T13:15:23Z</dcterms:created>
  <dcterms:modified xsi:type="dcterms:W3CDTF">2026-01-13T13:15:23Z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2052-6.11.0.8885</vt:lpwstr>
  </property>
  <property fmtid="{D5CDD505-2E9C-101B-9397-08002B2CF9AE}" pid="3" name="ICV">
    <vt:lpwstr>E6ED2C0443CCD792BF3055696A052E9A_43</vt:lpwstr>
  </property>
</Properties>
</file>